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3.svg" ContentType="image/svg"/>
  <Override PartName="/ppt/media/image4.svg" ContentType="image/svg"/>
  <Override PartName="/ppt/media/image9.svg" ContentType="image/svg"/>
  <Override PartName="/ppt/media/image12.png" ContentType="image/png"/>
  <Override PartName="/ppt/media/image3.png" ContentType="image/png"/>
  <Override PartName="/ppt/media/image23.svg" ContentType="image/svg"/>
  <Override PartName="/ppt/media/image8.png" ContentType="image/png"/>
  <Override PartName="/ppt/media/image11.svg" ContentType="image/svg"/>
  <Override PartName="/ppt/media/image2.svg" ContentType="image/svg"/>
  <Override PartName="/ppt/media/image7.svg" ContentType="image/svg"/>
  <Override PartName="/ppt/media/image10.png" ContentType="image/png"/>
  <Override PartName="/ppt/media/image1.png" ContentType="image/png"/>
  <Override PartName="/ppt/media/image19.svg" ContentType="image/svg"/>
  <Override PartName="/ppt/media/image6.png" ContentType="image/png"/>
  <Override PartName="/ppt/media/image26.png" ContentType="image/png"/>
  <Override PartName="/ppt/media/image24.png" ContentType="image/png"/>
  <Override PartName="/ppt/media/image22.png" ContentType="image/png"/>
  <Override PartName="/ppt/media/image21.png" ContentType="image/png"/>
  <Override PartName="/ppt/media/image20.png" ContentType="image/png"/>
  <Override PartName="/ppt/media/image18.png" ContentType="image/png"/>
  <Override PartName="/ppt/media/image15.svg" ContentType="image/svg"/>
  <Override PartName="/ppt/media/image17.svg" ContentType="image/svg"/>
  <Override PartName="/ppt/media/image27.svg" ContentType="image/svg"/>
  <Override PartName="/ppt/media/image16.png" ContentType="image/png"/>
  <Override PartName="/ppt/media/image14.png" ContentType="image/png"/>
  <Override PartName="/ppt/media/image5.png" ContentType="image/png"/>
  <Override PartName="/ppt/media/image25.svg" ContentType="image/sv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id-ID" sz="4400" spc="-1" strike="noStrike">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id-ID"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5D81B934-1B8A-4035-8519-CB9CA559136F}" type="slidenum">
              <a:t>&lt;#&gt;</a:t>
            </a:fld>
          </a:p>
        </p:txBody>
      </p:sp>
      <p:sp>
        <p:nvSpPr>
          <p:cNvPr id="6" name="PlaceHolder 5"/>
          <p:cNvSpPr>
            <a:spLocks noGrp="1"/>
          </p:cNvSpPr>
          <p:nvPr>
            <p:ph type="dt" idx="3"/>
          </p:nvPr>
        </p:nvSpPr>
        <p:spPr/>
        <p:txBody>
          <a:bodyPr/>
          <a:p>
            <a:r>
              <a:rPr lang="id-ID"/>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79F63695-B678-447D-AEB8-EC39FD3B68B8}" type="slidenum">
              <a:t>&lt;#&gt;</a:t>
            </a:fld>
          </a:p>
        </p:txBody>
      </p:sp>
      <p:sp>
        <p:nvSpPr>
          <p:cNvPr id="4" name="PlaceHolder 3"/>
          <p:cNvSpPr>
            <a:spLocks noGrp="1"/>
          </p:cNvSpPr>
          <p:nvPr>
            <p:ph type="dt" idx="6"/>
          </p:nvPr>
        </p:nvSpPr>
        <p:spPr/>
        <p:txBody>
          <a:bodyPr/>
          <a:p>
            <a:r>
              <a:rPr lang="id-ID"/>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CEC86E84-8CC8-4531-BE30-41FAC8648616}" type="slidenum">
              <a:t>&lt;#&gt;</a:t>
            </a:fld>
          </a:p>
        </p:txBody>
      </p:sp>
      <p:sp>
        <p:nvSpPr>
          <p:cNvPr id="4" name="PlaceHolder 3"/>
          <p:cNvSpPr>
            <a:spLocks noGrp="1"/>
          </p:cNvSpPr>
          <p:nvPr>
            <p:ph type="dt" idx="9"/>
          </p:nvPr>
        </p:nvSpPr>
        <p:spPr/>
        <p:txBody>
          <a:bodyPr/>
          <a:p>
            <a:r>
              <a:rPr lang="id-ID"/>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id-ID" sz="4400" spc="-1" strike="noStrike">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id-ID"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731DBB60-CE7F-4C9B-9971-9D188B2CA44B}" type="slidenum">
              <a:t>&lt;#&gt;</a:t>
            </a:fld>
          </a:p>
        </p:txBody>
      </p:sp>
      <p:sp>
        <p:nvSpPr>
          <p:cNvPr id="6" name="PlaceHolder 5"/>
          <p:cNvSpPr>
            <a:spLocks noGrp="1"/>
          </p:cNvSpPr>
          <p:nvPr>
            <p:ph type="dt" idx="12"/>
          </p:nvPr>
        </p:nvSpPr>
        <p:spPr/>
        <p:txBody>
          <a:bodyPr/>
          <a:p>
            <a:r>
              <a:rPr lang="id-ID"/>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BC3727C-77D7-4B42-8EA3-4871983B0046}" type="slidenum">
              <a:t>&lt;#&gt;</a:t>
            </a:fld>
          </a:p>
        </p:txBody>
      </p:sp>
      <p:sp>
        <p:nvSpPr>
          <p:cNvPr id="4" name="PlaceHolder 3"/>
          <p:cNvSpPr>
            <a:spLocks noGrp="1"/>
          </p:cNvSpPr>
          <p:nvPr>
            <p:ph type="dt" idx="15"/>
          </p:nvPr>
        </p:nvSpPr>
        <p:spPr/>
        <p:txBody>
          <a:bodyPr/>
          <a:p>
            <a:r>
              <a:rPr lang="id-ID"/>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id-ID" sz="4400" spc="-1" strike="noStrike">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id-ID" sz="3200" spc="-1" strike="noStrike">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id-ID"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622C56B-A606-4EAD-AA48-C70C4EABC8C4}" type="slidenum">
              <a:t>&lt;#&gt;</a:t>
            </a:fld>
          </a:p>
        </p:txBody>
      </p:sp>
      <p:sp>
        <p:nvSpPr>
          <p:cNvPr id="7" name="PlaceHolder 6"/>
          <p:cNvSpPr>
            <a:spLocks noGrp="1"/>
          </p:cNvSpPr>
          <p:nvPr>
            <p:ph type="dt" idx="18"/>
          </p:nvPr>
        </p:nvSpPr>
        <p:spPr/>
        <p:txBody>
          <a:bodyPr/>
          <a:p>
            <a:r>
              <a:rPr lang="id-ID"/>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C3A7BC5E-89B5-4B82-BD0C-5A12C2326D50}" type="slidenum">
              <a:t>&lt;#&gt;</a:t>
            </a:fld>
          </a:p>
        </p:txBody>
      </p:sp>
      <p:sp>
        <p:nvSpPr>
          <p:cNvPr id="4" name="PlaceHolder 3"/>
          <p:cNvSpPr>
            <a:spLocks noGrp="1"/>
          </p:cNvSpPr>
          <p:nvPr>
            <p:ph type="dt" idx="21"/>
          </p:nvPr>
        </p:nvSpPr>
        <p:spPr/>
        <p:txBody>
          <a:bodyPr/>
          <a:p>
            <a:r>
              <a:rPr lang="id-ID"/>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id-ID"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CBB9BB7D-6C21-47C9-A301-5EC21AE41CC3}" type="slidenum">
              <a:t>&lt;#&gt;</a:t>
            </a:fld>
          </a:p>
        </p:txBody>
      </p:sp>
      <p:sp>
        <p:nvSpPr>
          <p:cNvPr id="5" name="PlaceHolder 4"/>
          <p:cNvSpPr>
            <a:spLocks noGrp="1"/>
          </p:cNvSpPr>
          <p:nvPr>
            <p:ph type="dt" idx="24"/>
          </p:nvPr>
        </p:nvSpPr>
        <p:spPr/>
        <p:txBody>
          <a:bodyPr/>
          <a:p>
            <a:r>
              <a:rPr lang="id-ID"/>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39FEEF34-69FE-4FC9-8584-B18BFAA7F7D2}" type="slidenum">
              <a:t>&lt;#&gt;</a:t>
            </a:fld>
          </a:p>
        </p:txBody>
      </p:sp>
      <p:sp>
        <p:nvSpPr>
          <p:cNvPr id="4" name="PlaceHolder 3"/>
          <p:cNvSpPr>
            <a:spLocks noGrp="1"/>
          </p:cNvSpPr>
          <p:nvPr>
            <p:ph type="dt" idx="27"/>
          </p:nvPr>
        </p:nvSpPr>
        <p:spPr/>
        <p:txBody>
          <a:bodyPr/>
          <a:p>
            <a:r>
              <a:rPr lang="id-ID"/>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4D22D632-A944-4171-B395-78FC429944A0}" type="slidenum">
              <a:t>&lt;#&gt;</a:t>
            </a:fld>
          </a:p>
        </p:txBody>
      </p:sp>
      <p:sp>
        <p:nvSpPr>
          <p:cNvPr id="4" name="PlaceHolder 3"/>
          <p:cNvSpPr>
            <a:spLocks noGrp="1"/>
          </p:cNvSpPr>
          <p:nvPr>
            <p:ph type="dt" idx="30"/>
          </p:nvPr>
        </p:nvSpPr>
        <p:spPr/>
        <p:txBody>
          <a:bodyPr/>
          <a:p>
            <a:r>
              <a:rPr lang="id-ID"/>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9191F864-2508-4BBF-9506-9DB5F351D00C}" type="slidenum">
              <a:t>&lt;#&gt;</a:t>
            </a:fld>
          </a:p>
        </p:txBody>
      </p:sp>
      <p:sp>
        <p:nvSpPr>
          <p:cNvPr id="4" name="PlaceHolder 3"/>
          <p:cNvSpPr>
            <a:spLocks noGrp="1"/>
          </p:cNvSpPr>
          <p:nvPr>
            <p:ph type="dt" idx="33"/>
          </p:nvPr>
        </p:nvSpPr>
        <p:spPr/>
        <p:txBody>
          <a:bodyPr/>
          <a:p>
            <a:r>
              <a:rPr lang="id-ID"/>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id-ID" sz="1800" spc="-1" strike="noStrike">
                <a:solidFill>
                  <a:srgbClr val="000000"/>
                </a:solidFill>
                <a:latin typeface="Arial"/>
              </a:rPr>
              <a:t>Klik untuk menyunting format teks judul</a:t>
            </a:r>
            <a:endParaRPr b="0" lang="id-ID" sz="18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5A8D5F5A-D76F-41FB-8C3F-F5835E2048D1}"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968E0B61-B0E8-4F80-8E09-15A0DA45632A}"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AFD8C3D6-857A-46DF-9A8F-1ACAE368D732}"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id-ID" sz="1800" spc="-1" strike="noStrike">
                <a:solidFill>
                  <a:srgbClr val="000000"/>
                </a:solidFill>
                <a:latin typeface="Arial"/>
              </a:rPr>
              <a:t>Klik untuk </a:t>
            </a:r>
            <a:r>
              <a:rPr b="0" lang="id-ID" sz="1800" spc="-1" strike="noStrike">
                <a:solidFill>
                  <a:srgbClr val="000000"/>
                </a:solidFill>
                <a:latin typeface="Arial"/>
              </a:rPr>
              <a:t>menyunting </a:t>
            </a:r>
            <a:r>
              <a:rPr b="0" lang="id-ID" sz="1800" spc="-1" strike="noStrike">
                <a:solidFill>
                  <a:srgbClr val="000000"/>
                </a:solidFill>
                <a:latin typeface="Arial"/>
              </a:rPr>
              <a:t>format teks judul</a:t>
            </a:r>
            <a:endParaRPr b="0" lang="id-ID" sz="1800" spc="-1" strike="noStrike">
              <a:solidFill>
                <a:srgbClr val="000000"/>
              </a:solidFill>
              <a:latin typeface="Arial"/>
            </a:endParaRP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d-ID" sz="1800" spc="-1" strike="noStrike">
                <a:solidFill>
                  <a:srgbClr val="000000"/>
                </a:solidFill>
                <a:latin typeface="Arial"/>
              </a:rPr>
              <a:t>Klik untuk menyunting teks kerangka</a:t>
            </a:r>
            <a:endParaRPr b="0" lang="id-ID"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id-ID" sz="1800" spc="-1" strike="noStrike">
                <a:solidFill>
                  <a:srgbClr val="000000"/>
                </a:solidFill>
                <a:latin typeface="Arial"/>
              </a:rPr>
              <a:t>Tingkat Tajuk Kedua</a:t>
            </a:r>
            <a:endParaRPr b="0" lang="id-ID"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id-ID" sz="1800" spc="-1" strike="noStrike">
                <a:solidFill>
                  <a:srgbClr val="000000"/>
                </a:solidFill>
                <a:latin typeface="Arial"/>
              </a:rPr>
              <a:t>Tingkat Tajuk Ketiga</a:t>
            </a:r>
            <a:endParaRPr b="0" lang="id-ID"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id-ID" sz="1800" spc="-1" strike="noStrike">
                <a:solidFill>
                  <a:srgbClr val="000000"/>
                </a:solidFill>
                <a:latin typeface="Arial"/>
              </a:rPr>
              <a:t>Tingkat Tajuk Keempat</a:t>
            </a:r>
            <a:endParaRPr b="0" lang="id-ID"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Kelima</a:t>
            </a:r>
            <a:endParaRPr b="0" lang="id-ID"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Keenam</a:t>
            </a:r>
            <a:endParaRPr b="0" lang="id-ID"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Ketujuh</a:t>
            </a:r>
            <a:endParaRPr b="0" lang="id-ID" sz="1800" spc="-1" strike="noStrike">
              <a:solidFill>
                <a:srgbClr val="000000"/>
              </a:solidFill>
              <a:latin typeface="Arial"/>
            </a:endParaRP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6D9037D7-5146-4104-9526-85C6707EB7D7}"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F46CA8F3-44CE-4232-AD2A-85B1851EC84E}"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id-ID" sz="1800" spc="-1" strike="noStrike">
                <a:solidFill>
                  <a:srgbClr val="000000"/>
                </a:solidFill>
                <a:latin typeface="Arial"/>
              </a:rPr>
              <a:t>Klik untuk </a:t>
            </a:r>
            <a:r>
              <a:rPr b="0" lang="id-ID" sz="1800" spc="-1" strike="noStrike">
                <a:solidFill>
                  <a:srgbClr val="000000"/>
                </a:solidFill>
                <a:latin typeface="Arial"/>
              </a:rPr>
              <a:t>menyunting </a:t>
            </a:r>
            <a:r>
              <a:rPr b="0" lang="id-ID" sz="1800" spc="-1" strike="noStrike">
                <a:solidFill>
                  <a:srgbClr val="000000"/>
                </a:solidFill>
                <a:latin typeface="Arial"/>
              </a:rPr>
              <a:t>format teks judul</a:t>
            </a:r>
            <a:endParaRPr b="0" lang="id-ID" sz="1800" spc="-1" strike="noStrike">
              <a:solidFill>
                <a:srgbClr val="000000"/>
              </a:solidFill>
              <a:latin typeface="Arial"/>
            </a:endParaRP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d-ID" sz="1800" spc="-1" strike="noStrike">
                <a:solidFill>
                  <a:srgbClr val="000000"/>
                </a:solidFill>
                <a:latin typeface="Arial"/>
              </a:rPr>
              <a:t>Klik untuk menyunting teks kerangka</a:t>
            </a:r>
            <a:endParaRPr b="0" lang="id-ID"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id-ID" sz="1800" spc="-1" strike="noStrike">
                <a:solidFill>
                  <a:srgbClr val="000000"/>
                </a:solidFill>
                <a:latin typeface="Arial"/>
              </a:rPr>
              <a:t>Tingkat Tajuk Kedua</a:t>
            </a:r>
            <a:endParaRPr b="0" lang="id-ID"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id-ID" sz="1800" spc="-1" strike="noStrike">
                <a:solidFill>
                  <a:srgbClr val="000000"/>
                </a:solidFill>
                <a:latin typeface="Arial"/>
              </a:rPr>
              <a:t>Tingkat Tajuk Ketiga</a:t>
            </a:r>
            <a:endParaRPr b="0" lang="id-ID"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id-ID" sz="1800" spc="-1" strike="noStrike">
                <a:solidFill>
                  <a:srgbClr val="000000"/>
                </a:solidFill>
                <a:latin typeface="Arial"/>
              </a:rPr>
              <a:t>Tingkat Tajuk Keempat</a:t>
            </a:r>
            <a:endParaRPr b="0" lang="id-ID"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Kelima</a:t>
            </a:r>
            <a:endParaRPr b="0" lang="id-ID"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Keenam</a:t>
            </a:r>
            <a:endParaRPr b="0" lang="id-ID"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Ketujuh</a:t>
            </a:r>
            <a:endParaRPr b="0" lang="id-ID" sz="1800" spc="-1" strike="noStrike">
              <a:solidFill>
                <a:srgbClr val="000000"/>
              </a:solidFill>
              <a:latin typeface="Arial"/>
            </a:endParaRP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d-ID" sz="1800" spc="-1" strike="noStrike">
                <a:solidFill>
                  <a:srgbClr val="000000"/>
                </a:solidFill>
                <a:latin typeface="Arial"/>
              </a:rPr>
              <a:t>Klik untuk menyunting teks kerangka</a:t>
            </a:r>
            <a:endParaRPr b="0" lang="id-ID"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id-ID" sz="1800" spc="-1" strike="noStrike">
                <a:solidFill>
                  <a:srgbClr val="000000"/>
                </a:solidFill>
                <a:latin typeface="Arial"/>
              </a:rPr>
              <a:t>Tingkat Tajuk Kedua</a:t>
            </a:r>
            <a:endParaRPr b="0" lang="id-ID"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id-ID" sz="1800" spc="-1" strike="noStrike">
                <a:solidFill>
                  <a:srgbClr val="000000"/>
                </a:solidFill>
                <a:latin typeface="Arial"/>
              </a:rPr>
              <a:t>Tingkat Tajuk Ketiga</a:t>
            </a:r>
            <a:endParaRPr b="0" lang="id-ID"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id-ID" sz="1800" spc="-1" strike="noStrike">
                <a:solidFill>
                  <a:srgbClr val="000000"/>
                </a:solidFill>
                <a:latin typeface="Arial"/>
              </a:rPr>
              <a:t>Tingkat Tajuk Keempat</a:t>
            </a:r>
            <a:endParaRPr b="0" lang="id-ID"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Kelima</a:t>
            </a:r>
            <a:endParaRPr b="0" lang="id-ID"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Keenam</a:t>
            </a:r>
            <a:endParaRPr b="0" lang="id-ID"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id-ID" sz="1800" spc="-1" strike="noStrike">
                <a:solidFill>
                  <a:srgbClr val="000000"/>
                </a:solidFill>
                <a:latin typeface="Arial"/>
              </a:rPr>
              <a:t>Tingkat Tajuk Ketujuh</a:t>
            </a:r>
            <a:endParaRPr b="0" lang="id-ID" sz="1800" spc="-1" strike="noStrike">
              <a:solidFill>
                <a:srgbClr val="000000"/>
              </a:solidFill>
              <a:latin typeface="Arial"/>
            </a:endParaRP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F9A158C4-A25F-4B07-A190-CFB367B86486}"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4F15CF4D-A530-4B47-8E90-21DE3080ADF6}"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id-ID" sz="1800" spc="-1" strike="noStrike">
                <a:solidFill>
                  <a:srgbClr val="000000"/>
                </a:solidFill>
                <a:latin typeface="Arial"/>
              </a:rPr>
              <a:t>Klik untuk </a:t>
            </a:r>
            <a:r>
              <a:rPr b="0" lang="id-ID" sz="1800" spc="-1" strike="noStrike">
                <a:solidFill>
                  <a:srgbClr val="000000"/>
                </a:solidFill>
                <a:latin typeface="Arial"/>
              </a:rPr>
              <a:t>menyunting </a:t>
            </a:r>
            <a:r>
              <a:rPr b="0" lang="id-ID" sz="1800" spc="-1" strike="noStrike">
                <a:solidFill>
                  <a:srgbClr val="000000"/>
                </a:solidFill>
                <a:latin typeface="Arial"/>
              </a:rPr>
              <a:t>format teks judul</a:t>
            </a:r>
            <a:endParaRPr b="0" lang="id-ID" sz="1800" spc="-1" strike="noStrike">
              <a:solidFill>
                <a:srgbClr val="000000"/>
              </a:solidFill>
              <a:latin typeface="Arial"/>
            </a:endParaRP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1696D733-9B2D-49E2-9480-44EF18A6739A}"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9EF7F826-96A0-4192-9342-88C9B33660FD}"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id-ID" sz="4400" spc="-1" strike="noStrike">
                <a:solidFill>
                  <a:srgbClr val="000000"/>
                </a:solidFill>
                <a:latin typeface="Arial"/>
              </a:rPr>
              <a:t>Klik untuk menyunting format teks judul</a:t>
            </a:r>
            <a:endParaRPr b="0" lang="id-ID" sz="4400" spc="-1" strike="noStrike">
              <a:solidFill>
                <a:srgbClr val="000000"/>
              </a:solidFill>
              <a:latin typeface="Arial"/>
            </a:endParaRP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d-ID" sz="3200" spc="-1" strike="noStrike">
                <a:solidFill>
                  <a:srgbClr val="000000"/>
                </a:solidFill>
                <a:latin typeface="Arial"/>
              </a:rPr>
              <a:t>Klik untuk menyunting teks kerangka</a:t>
            </a:r>
            <a:endParaRPr b="0" lang="id-ID"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id-ID" sz="2800" spc="-1" strike="noStrike">
                <a:solidFill>
                  <a:srgbClr val="000000"/>
                </a:solidFill>
                <a:latin typeface="Arial"/>
              </a:rPr>
              <a:t>Tingkat Tajuk Kedua</a:t>
            </a:r>
            <a:endParaRPr b="0" lang="id-ID"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id-ID" sz="2400" spc="-1" strike="noStrike">
                <a:solidFill>
                  <a:srgbClr val="000000"/>
                </a:solidFill>
                <a:latin typeface="Arial"/>
              </a:rPr>
              <a:t>Tingkat Tajuk Ketiga</a:t>
            </a:r>
            <a:endParaRPr b="0" lang="id-ID"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id-ID" sz="2000" spc="-1" strike="noStrike">
                <a:solidFill>
                  <a:srgbClr val="000000"/>
                </a:solidFill>
                <a:latin typeface="Arial"/>
              </a:rPr>
              <a:t>Tingkat Tajuk Keempat</a:t>
            </a:r>
            <a:endParaRPr b="0" lang="id-ID"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id-ID" sz="2000" spc="-1" strike="noStrike">
                <a:solidFill>
                  <a:srgbClr val="000000"/>
                </a:solidFill>
                <a:latin typeface="Arial"/>
              </a:rPr>
              <a:t>Tingkat Tajuk Kelima</a:t>
            </a:r>
            <a:endParaRPr b="0" lang="id-ID"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id-ID" sz="2000" spc="-1" strike="noStrike">
                <a:solidFill>
                  <a:srgbClr val="000000"/>
                </a:solidFill>
                <a:latin typeface="Arial"/>
              </a:rPr>
              <a:t>Tingkat Tajuk Keenam</a:t>
            </a:r>
            <a:endParaRPr b="0" lang="id-ID"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id-ID" sz="2000" spc="-1" strike="noStrike">
                <a:solidFill>
                  <a:srgbClr val="000000"/>
                </a:solidFill>
                <a:latin typeface="Arial"/>
              </a:rPr>
              <a:t>Tingkat Tajuk Ketujuh</a:t>
            </a:r>
            <a:endParaRPr b="0" lang="id-ID"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13F6A7AA-3242-41E9-935A-3F6CBCF02875}"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id-ID" sz="1400" spc="-1" strike="noStrike">
                <a:solidFill>
                  <a:srgbClr val="000000"/>
                </a:solidFill>
                <a:latin typeface="Times New Roman"/>
              </a:defRPr>
            </a:lvl1pPr>
          </a:lstStyle>
          <a:p>
            <a:pPr indent="0" algn="ctr">
              <a:lnSpc>
                <a:spcPct val="100000"/>
              </a:lnSpc>
              <a:buNone/>
              <a:tabLst>
                <a:tab algn="l" pos="0"/>
              </a:tabLst>
            </a:pPr>
            <a:r>
              <a:rPr b="0" lang="id-ID" sz="1400" spc="-1" strike="noStrike">
                <a:solidFill>
                  <a:srgbClr val="000000"/>
                </a:solidFill>
                <a:latin typeface="Times New Roman"/>
              </a:rPr>
              <a:t>&lt;kaki&gt;</a:t>
            </a:r>
            <a:endParaRPr b="0" lang="id-ID"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id-ID" sz="1400" spc="-1" strike="noStrike">
                <a:solidFill>
                  <a:srgbClr val="000000"/>
                </a:solidFill>
                <a:latin typeface="Times New Roman"/>
              </a:defRPr>
            </a:lvl1pPr>
          </a:lstStyle>
          <a:p>
            <a:pPr indent="0">
              <a:lnSpc>
                <a:spcPct val="100000"/>
              </a:lnSpc>
              <a:buNone/>
              <a:tabLst>
                <a:tab algn="l" pos="0"/>
              </a:tabLst>
            </a:pPr>
            <a:fld id="{B6FC7A7A-C8B9-4656-BF6A-FF335578479C}" type="slidenum">
              <a:rPr b="0" lang="id-ID" sz="1400" spc="-1" strike="noStrike">
                <a:solidFill>
                  <a:srgbClr val="000000"/>
                </a:solidFill>
                <a:latin typeface="Times New Roman"/>
              </a:rPr>
              <a:t>&lt;nomor&gt;</a:t>
            </a:fld>
            <a:endParaRPr b="0" lang="id-ID" sz="14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id-ID" sz="1400" spc="-1" strike="noStrike">
                <a:solidFill>
                  <a:srgbClr val="000000"/>
                </a:solidFill>
                <a:latin typeface="Times New Roman"/>
              </a:defRPr>
            </a:lvl1pPr>
          </a:lstStyle>
          <a:p>
            <a:pPr indent="0">
              <a:buNone/>
            </a:pPr>
            <a:r>
              <a:rPr b="0" lang="id-ID" sz="1400" spc="-1" strike="noStrike">
                <a:solidFill>
                  <a:srgbClr val="000000"/>
                </a:solidFill>
                <a:latin typeface="Times New Roman"/>
              </a:rPr>
              <a:t>&lt;tanggal/jam&gt;</a:t>
            </a:r>
            <a:endParaRPr b="0" lang="id-ID"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5.png"/><Relationship Id="rId8"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sv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5.png"/><Relationship Id="rId6"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5.png"/><Relationship Id="rId6"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svg"/><Relationship Id="rId3" Type="http://schemas.openxmlformats.org/officeDocument/2006/relationships/image" Target="../media/image5.png"/><Relationship Id="rId4"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5.png"/><Relationship Id="rId4"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svg"/><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5.png"/><Relationship Id="rId6"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svg"/><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5.png"/><Relationship Id="rId6"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png"/><Relationship Id="rId3"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svg"/><Relationship Id="rId3" Type="http://schemas.openxmlformats.org/officeDocument/2006/relationships/image" Target="../media/image24.png"/><Relationship Id="rId4" Type="http://schemas.openxmlformats.org/officeDocument/2006/relationships/image" Target="../media/image25.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Freeform 2"/>
          <p:cNvSpPr/>
          <p:nvPr/>
        </p:nvSpPr>
        <p:spPr>
          <a:xfrm>
            <a:off x="5330160" y="2666160"/>
            <a:ext cx="5795280" cy="5795280"/>
          </a:xfrm>
          <a:custGeom>
            <a:avLst/>
            <a:gdLst>
              <a:gd name="textAreaLeft" fmla="*/ 0 w 5795280"/>
              <a:gd name="textAreaRight" fmla="*/ 5796360 w 5795280"/>
              <a:gd name="textAreaTop" fmla="*/ 0 h 5795280"/>
              <a:gd name="textAreaBottom" fmla="*/ 5796360 h 5795280"/>
            </a:gdLst>
            <a:ahLst/>
            <a:rect l="textAreaLeft" t="textAreaTop" r="textAreaRight" b="textAreaBottom"/>
            <a:pathLst>
              <a:path w="5796383" h="5796383">
                <a:moveTo>
                  <a:pt x="0" y="0"/>
                </a:moveTo>
                <a:lnTo>
                  <a:pt x="5796382" y="0"/>
                </a:lnTo>
                <a:lnTo>
                  <a:pt x="5796382" y="5796382"/>
                </a:lnTo>
                <a:lnTo>
                  <a:pt x="0" y="579638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51" name="Freeform 24"/>
          <p:cNvSpPr/>
          <p:nvPr/>
        </p:nvSpPr>
        <p:spPr>
          <a:xfrm>
            <a:off x="10546200" y="2726280"/>
            <a:ext cx="1773360" cy="1773360"/>
          </a:xfrm>
          <a:custGeom>
            <a:avLst/>
            <a:gdLst>
              <a:gd name="textAreaLeft" fmla="*/ 0 w 1773360"/>
              <a:gd name="textAreaRight" fmla="*/ 1774440 w 1773360"/>
              <a:gd name="textAreaTop" fmla="*/ 0 h 1773360"/>
              <a:gd name="textAreaBottom" fmla="*/ 1774440 h 1773360"/>
            </a:gdLst>
            <a:ahLst/>
            <a:rect l="textAreaLeft" t="textAreaTop" r="textAreaRight" b="textAreaBottom"/>
            <a:pathLst>
              <a:path w="1774524" h="1774524">
                <a:moveTo>
                  <a:pt x="0" y="0"/>
                </a:moveTo>
                <a:lnTo>
                  <a:pt x="1774523" y="0"/>
                </a:lnTo>
                <a:lnTo>
                  <a:pt x="1774523" y="1774524"/>
                </a:lnTo>
                <a:lnTo>
                  <a:pt x="0" y="1774524"/>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52" name="Freeform 4"/>
          <p:cNvSpPr/>
          <p:nvPr/>
        </p:nvSpPr>
        <p:spPr>
          <a:xfrm>
            <a:off x="1665360" y="73800"/>
            <a:ext cx="1962720" cy="1962720"/>
          </a:xfrm>
          <a:custGeom>
            <a:avLst/>
            <a:gdLst>
              <a:gd name="textAreaLeft" fmla="*/ 0 w 1962720"/>
              <a:gd name="textAreaRight" fmla="*/ 1963800 w 1962720"/>
              <a:gd name="textAreaTop" fmla="*/ 0 h 1962720"/>
              <a:gd name="textAreaBottom" fmla="*/ 1963800 h 1962720"/>
            </a:gdLst>
            <a:ahLst/>
            <a:rect l="textAreaLeft" t="textAreaTop" r="textAreaRight" b="textAreaBottom"/>
            <a:pathLst>
              <a:path w="1963886" h="1963886">
                <a:moveTo>
                  <a:pt x="0" y="0"/>
                </a:moveTo>
                <a:lnTo>
                  <a:pt x="1963886" y="0"/>
                </a:lnTo>
                <a:lnTo>
                  <a:pt x="1963886" y="1963887"/>
                </a:lnTo>
                <a:lnTo>
                  <a:pt x="0" y="1963887"/>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grpSp>
        <p:nvGrpSpPr>
          <p:cNvPr id="53" name="Group 5"/>
          <p:cNvGrpSpPr/>
          <p:nvPr/>
        </p:nvGrpSpPr>
        <p:grpSpPr>
          <a:xfrm>
            <a:off x="-772920" y="811800"/>
            <a:ext cx="12205080" cy="5385600"/>
            <a:chOff x="-772920" y="811800"/>
            <a:chExt cx="12205080" cy="5385600"/>
          </a:xfrm>
        </p:grpSpPr>
        <p:sp>
          <p:nvSpPr>
            <p:cNvPr id="54" name="Freeform 6"/>
            <p:cNvSpPr/>
            <p:nvPr/>
          </p:nvSpPr>
          <p:spPr>
            <a:xfrm>
              <a:off x="0" y="1028880"/>
              <a:ext cx="11432160" cy="5168520"/>
            </a:xfrm>
            <a:custGeom>
              <a:avLst/>
              <a:gdLst>
                <a:gd name="textAreaLeft" fmla="*/ 0 w 11432160"/>
                <a:gd name="textAreaRight" fmla="*/ 11433240 w 11432160"/>
                <a:gd name="textAreaTop" fmla="*/ 0 h 5168520"/>
                <a:gd name="textAreaBottom" fmla="*/ 5169600 h 5168520"/>
              </a:gdLst>
              <a:ahLst/>
              <a:rect l="textAreaLeft" t="textAreaTop" r="textAreaRight" b="textAreaBottom"/>
              <a:pathLst>
                <a:path w="3214789" h="1361567">
                  <a:moveTo>
                    <a:pt x="0" y="0"/>
                  </a:moveTo>
                  <a:lnTo>
                    <a:pt x="3214789" y="0"/>
                  </a:lnTo>
                  <a:lnTo>
                    <a:pt x="3214789" y="1361567"/>
                  </a:lnTo>
                  <a:lnTo>
                    <a:pt x="0" y="1361567"/>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55" name="TextBox 7"/>
            <p:cNvSpPr/>
            <p:nvPr/>
          </p:nvSpPr>
          <p:spPr>
            <a:xfrm>
              <a:off x="-772920" y="811800"/>
              <a:ext cx="12205080" cy="53856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6" name="Group 12"/>
          <p:cNvGrpSpPr/>
          <p:nvPr/>
        </p:nvGrpSpPr>
        <p:grpSpPr>
          <a:xfrm>
            <a:off x="0" y="9708480"/>
            <a:ext cx="18287280" cy="1215000"/>
            <a:chOff x="0" y="9708480"/>
            <a:chExt cx="18287280" cy="1215000"/>
          </a:xfrm>
        </p:grpSpPr>
        <p:sp>
          <p:nvSpPr>
            <p:cNvPr id="57" name="Freeform 13"/>
            <p:cNvSpPr/>
            <p:nvPr/>
          </p:nvSpPr>
          <p:spPr>
            <a:xfrm>
              <a:off x="0" y="9925200"/>
              <a:ext cx="18287280" cy="998280"/>
            </a:xfrm>
            <a:custGeom>
              <a:avLst/>
              <a:gdLst>
                <a:gd name="textAreaLeft" fmla="*/ 0 w 18287280"/>
                <a:gd name="textAreaRight" fmla="*/ 18288360 w 18287280"/>
                <a:gd name="textAreaTop" fmla="*/ 0 h 998280"/>
                <a:gd name="textAreaBottom" fmla="*/ 999360 h 998280"/>
              </a:gdLst>
              <a:ahLst/>
              <a:rect l="textAreaLeft" t="textAreaTop" r="textAreaRight" b="textAreaBottom"/>
              <a:pathLst>
                <a:path w="5184742" h="263162">
                  <a:moveTo>
                    <a:pt x="0" y="0"/>
                  </a:moveTo>
                  <a:lnTo>
                    <a:pt x="5184742" y="0"/>
                  </a:lnTo>
                  <a:lnTo>
                    <a:pt x="5184742" y="263162"/>
                  </a:lnTo>
                  <a:lnTo>
                    <a:pt x="0" y="263162"/>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58" name="TextBox 14"/>
            <p:cNvSpPr/>
            <p:nvPr/>
          </p:nvSpPr>
          <p:spPr>
            <a:xfrm>
              <a:off x="0" y="9708480"/>
              <a:ext cx="18287280" cy="12150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59" name="Group 15"/>
          <p:cNvGrpSpPr/>
          <p:nvPr/>
        </p:nvGrpSpPr>
        <p:grpSpPr>
          <a:xfrm>
            <a:off x="1028880" y="6774120"/>
            <a:ext cx="139320" cy="1901880"/>
            <a:chOff x="1028880" y="6774120"/>
            <a:chExt cx="139320" cy="1901880"/>
          </a:xfrm>
        </p:grpSpPr>
        <p:sp>
          <p:nvSpPr>
            <p:cNvPr id="60" name="Freeform 16"/>
            <p:cNvSpPr/>
            <p:nvPr/>
          </p:nvSpPr>
          <p:spPr>
            <a:xfrm>
              <a:off x="1028880" y="6990840"/>
              <a:ext cx="139320" cy="1684800"/>
            </a:xfrm>
            <a:custGeom>
              <a:avLst/>
              <a:gdLst>
                <a:gd name="textAreaLeft" fmla="*/ 0 w 139320"/>
                <a:gd name="textAreaRight" fmla="*/ 140400 w 139320"/>
                <a:gd name="textAreaTop" fmla="*/ 0 h 1684800"/>
                <a:gd name="textAreaBottom" fmla="*/ 1685880 h 1684800"/>
              </a:gdLst>
              <a:ahLst/>
              <a:rect l="textAreaLeft" t="textAreaTop" r="textAreaRight" b="textAreaBottom"/>
              <a:pathLst>
                <a:path w="36931" h="444063">
                  <a:moveTo>
                    <a:pt x="0" y="0"/>
                  </a:moveTo>
                  <a:lnTo>
                    <a:pt x="36931" y="0"/>
                  </a:lnTo>
                  <a:lnTo>
                    <a:pt x="36931" y="444063"/>
                  </a:lnTo>
                  <a:lnTo>
                    <a:pt x="0" y="444063"/>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61" name="TextBox 17"/>
            <p:cNvSpPr/>
            <p:nvPr/>
          </p:nvSpPr>
          <p:spPr>
            <a:xfrm>
              <a:off x="1028880" y="6774120"/>
              <a:ext cx="139320" cy="1901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62" name="Group 21"/>
          <p:cNvGrpSpPr/>
          <p:nvPr/>
        </p:nvGrpSpPr>
        <p:grpSpPr>
          <a:xfrm>
            <a:off x="457200" y="-401040"/>
            <a:ext cx="1141920" cy="2000160"/>
            <a:chOff x="457200" y="-401040"/>
            <a:chExt cx="1141920" cy="2000160"/>
          </a:xfrm>
        </p:grpSpPr>
        <p:sp>
          <p:nvSpPr>
            <p:cNvPr id="63" name="Freeform 22"/>
            <p:cNvSpPr/>
            <p:nvPr/>
          </p:nvSpPr>
          <p:spPr>
            <a:xfrm>
              <a:off x="457200" y="457200"/>
              <a:ext cx="1141920" cy="1141920"/>
            </a:xfrm>
            <a:custGeom>
              <a:avLst/>
              <a:gdLst>
                <a:gd name="textAreaLeft" fmla="*/ 0 w 1141920"/>
                <a:gd name="textAreaRight" fmla="*/ 1143000 w 1141920"/>
                <a:gd name="textAreaTop" fmla="*/ 0 h 1141920"/>
                <a:gd name="textAreaBottom" fmla="*/ 1143000 h 1141920"/>
              </a:gdLst>
              <a:ahLst/>
              <a:rect l="textAreaLeft" t="textAreaTop" r="textAreaRight" b="textAreaBottom"/>
              <a:pathLst>
                <a:path w="76112" h="76112">
                  <a:moveTo>
                    <a:pt x="0" y="0"/>
                  </a:moveTo>
                  <a:lnTo>
                    <a:pt x="76112" y="0"/>
                  </a:lnTo>
                  <a:lnTo>
                    <a:pt x="76112" y="76112"/>
                  </a:lnTo>
                  <a:lnTo>
                    <a:pt x="0" y="7611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64" name="TextBox 23"/>
            <p:cNvSpPr/>
            <p:nvPr/>
          </p:nvSpPr>
          <p:spPr>
            <a:xfrm>
              <a:off x="457200" y="-401040"/>
              <a:ext cx="1141920" cy="2000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65" name="Freeform 26"/>
          <p:cNvSpPr/>
          <p:nvPr/>
        </p:nvSpPr>
        <p:spPr>
          <a:xfrm>
            <a:off x="16014600" y="457200"/>
            <a:ext cx="1695960" cy="1734120"/>
          </a:xfrm>
          <a:custGeom>
            <a:avLst/>
            <a:gdLst>
              <a:gd name="textAreaLeft" fmla="*/ 0 w 1695960"/>
              <a:gd name="textAreaRight" fmla="*/ 1697040 w 1695960"/>
              <a:gd name="textAreaTop" fmla="*/ 0 h 1734120"/>
              <a:gd name="textAreaBottom" fmla="*/ 1735200 h 1734120"/>
            </a:gdLst>
            <a:ahLst/>
            <a:rect l="textAreaLeft" t="textAreaTop" r="textAreaRight" b="textAreaBottom"/>
            <a:pathLst>
              <a:path w="1697086" h="1735309">
                <a:moveTo>
                  <a:pt x="0" y="0"/>
                </a:moveTo>
                <a:lnTo>
                  <a:pt x="1697086" y="0"/>
                </a:lnTo>
                <a:lnTo>
                  <a:pt x="1697086" y="1735309"/>
                </a:lnTo>
                <a:lnTo>
                  <a:pt x="0" y="1735309"/>
                </a:lnTo>
                <a:lnTo>
                  <a:pt x="0" y="0"/>
                </a:lnTo>
                <a:close/>
              </a:path>
            </a:pathLst>
          </a:custGeom>
          <a:blipFill rotWithShape="0">
            <a:blip r:embed="rId7"/>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66" name="TextBox 27"/>
          <p:cNvSpPr/>
          <p:nvPr/>
        </p:nvSpPr>
        <p:spPr>
          <a:xfrm>
            <a:off x="15991560" y="2396520"/>
            <a:ext cx="1742040" cy="70056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1" strike="noStrike">
                <a:solidFill>
                  <a:srgbClr val="343434"/>
                </a:solidFill>
                <a:latin typeface="Coco Gothic"/>
                <a:ea typeface="Coco Gothic"/>
              </a:rPr>
              <a:t>UNIVERSITAS PANCASAKTI TEGAL</a:t>
            </a:r>
            <a:endParaRPr b="0" lang="id-ID" sz="1840" spc="-1" strike="noStrike">
              <a:solidFill>
                <a:srgbClr val="000000"/>
              </a:solidFill>
              <a:latin typeface="Arial"/>
            </a:endParaRPr>
          </a:p>
        </p:txBody>
      </p:sp>
      <p:sp>
        <p:nvSpPr>
          <p:cNvPr id="67" name="TextBox 29"/>
          <p:cNvSpPr/>
          <p:nvPr/>
        </p:nvSpPr>
        <p:spPr>
          <a:xfrm>
            <a:off x="382320" y="1761120"/>
            <a:ext cx="9696960" cy="2437920"/>
          </a:xfrm>
          <a:prstGeom prst="rect">
            <a:avLst/>
          </a:prstGeom>
          <a:noFill/>
          <a:ln w="0">
            <a:noFill/>
          </a:ln>
        </p:spPr>
        <p:style>
          <a:lnRef idx="0"/>
          <a:fillRef idx="0"/>
          <a:effectRef idx="0"/>
          <a:fontRef idx="minor"/>
        </p:style>
        <p:txBody>
          <a:bodyPr lIns="0" rIns="0" tIns="0" bIns="0" anchor="ctr">
            <a:spAutoFit/>
          </a:bodyPr>
          <a:p>
            <a:pPr defTabSz="914400">
              <a:lnSpc>
                <a:spcPct val="100000"/>
              </a:lnSpc>
            </a:pPr>
            <a:r>
              <a:rPr b="1" lang="en-US" sz="8000" spc="1475" strike="noStrike">
                <a:solidFill>
                  <a:srgbClr val="ffffff"/>
                </a:solidFill>
                <a:latin typeface="Arial"/>
                <a:ea typeface="Coco Gothic Heavy"/>
              </a:rPr>
              <a:t>SEMINAR PROPOSAL</a:t>
            </a:r>
            <a:endParaRPr b="0" lang="id-ID" sz="8000" spc="-1" strike="noStrike">
              <a:solidFill>
                <a:srgbClr val="000000"/>
              </a:solidFill>
              <a:latin typeface="Arial"/>
            </a:endParaRPr>
          </a:p>
        </p:txBody>
      </p:sp>
      <p:sp>
        <p:nvSpPr>
          <p:cNvPr id="68" name="TextBox 31"/>
          <p:cNvSpPr/>
          <p:nvPr/>
        </p:nvSpPr>
        <p:spPr>
          <a:xfrm>
            <a:off x="1258560" y="6988320"/>
            <a:ext cx="3798720" cy="3704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343434"/>
                </a:solidFill>
                <a:latin typeface="Poppins Bold"/>
                <a:ea typeface="Poppins Bold"/>
              </a:rPr>
              <a:t>Alif Adji Shaputra</a:t>
            </a:r>
            <a:endParaRPr b="0" lang="id-ID" sz="2920" spc="-1" strike="noStrike">
              <a:solidFill>
                <a:srgbClr val="000000"/>
              </a:solidFill>
              <a:latin typeface="Arial"/>
            </a:endParaRPr>
          </a:p>
        </p:txBody>
      </p:sp>
      <p:sp>
        <p:nvSpPr>
          <p:cNvPr id="69" name="TextBox 32"/>
          <p:cNvSpPr/>
          <p:nvPr/>
        </p:nvSpPr>
        <p:spPr>
          <a:xfrm>
            <a:off x="1258560" y="7427520"/>
            <a:ext cx="2324880" cy="3704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343434"/>
                </a:solidFill>
                <a:latin typeface="Poppins"/>
                <a:ea typeface="Poppins"/>
              </a:rPr>
              <a:t>NIM :</a:t>
            </a:r>
            <a:endParaRPr b="0" lang="id-ID" sz="2920" spc="-1" strike="noStrike">
              <a:solidFill>
                <a:srgbClr val="000000"/>
              </a:solidFill>
              <a:latin typeface="Arial"/>
            </a:endParaRPr>
          </a:p>
        </p:txBody>
      </p:sp>
      <p:sp>
        <p:nvSpPr>
          <p:cNvPr id="70" name="TextBox 33"/>
          <p:cNvSpPr/>
          <p:nvPr/>
        </p:nvSpPr>
        <p:spPr>
          <a:xfrm>
            <a:off x="2374920" y="7427880"/>
            <a:ext cx="3798720" cy="3704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343434"/>
                </a:solidFill>
                <a:latin typeface="Poppins Bold"/>
                <a:ea typeface="Poppins Bold"/>
              </a:rPr>
              <a:t>6622600104</a:t>
            </a:r>
            <a:endParaRPr b="0" lang="id-ID" sz="2920" spc="-1" strike="noStrike">
              <a:solidFill>
                <a:srgbClr val="000000"/>
              </a:solidFill>
              <a:latin typeface="Arial"/>
            </a:endParaRPr>
          </a:p>
        </p:txBody>
      </p:sp>
      <p:sp>
        <p:nvSpPr>
          <p:cNvPr id="71" name="TextBox 34"/>
          <p:cNvSpPr/>
          <p:nvPr/>
        </p:nvSpPr>
        <p:spPr>
          <a:xfrm>
            <a:off x="1258560" y="7867080"/>
            <a:ext cx="8047440" cy="3704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343434"/>
                </a:solidFill>
                <a:latin typeface="Poppins"/>
                <a:ea typeface="Poppins"/>
              </a:rPr>
              <a:t>PROGRAM STUDI INFORMATIKA</a:t>
            </a:r>
            <a:endParaRPr b="0" lang="id-ID" sz="2920" spc="-1" strike="noStrike">
              <a:solidFill>
                <a:srgbClr val="000000"/>
              </a:solidFill>
              <a:latin typeface="Arial"/>
            </a:endParaRPr>
          </a:p>
        </p:txBody>
      </p:sp>
      <p:sp>
        <p:nvSpPr>
          <p:cNvPr id="72" name="TextBox 35"/>
          <p:cNvSpPr/>
          <p:nvPr/>
        </p:nvSpPr>
        <p:spPr>
          <a:xfrm>
            <a:off x="1258560" y="8297280"/>
            <a:ext cx="1382400" cy="3704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343434"/>
                </a:solidFill>
                <a:latin typeface="Poppins Bold"/>
                <a:ea typeface="Poppins Bold"/>
              </a:rPr>
              <a:t>2026</a:t>
            </a:r>
            <a:endParaRPr b="0" lang="id-ID" sz="2920" spc="-1" strike="noStrike">
              <a:solidFill>
                <a:srgbClr val="000000"/>
              </a:solidFill>
              <a:latin typeface="Arial"/>
            </a:endParaRPr>
          </a:p>
        </p:txBody>
      </p:sp>
      <p:sp>
        <p:nvSpPr>
          <p:cNvPr id="73" name="TextBox 1"/>
          <p:cNvSpPr/>
          <p:nvPr/>
        </p:nvSpPr>
        <p:spPr>
          <a:xfrm>
            <a:off x="382320" y="4298760"/>
            <a:ext cx="9876960" cy="1112040"/>
          </a:xfrm>
          <a:prstGeom prst="rect">
            <a:avLst/>
          </a:prstGeom>
          <a:noFill/>
          <a:ln w="0">
            <a:noFill/>
          </a:ln>
        </p:spPr>
        <p:style>
          <a:lnRef idx="0"/>
          <a:fillRef idx="0"/>
          <a:effectRef idx="0"/>
          <a:fontRef idx="minor"/>
        </p:style>
        <p:txBody>
          <a:bodyPr lIns="0" rIns="0" tIns="0" bIns="0" anchor="t">
            <a:spAutoFit/>
          </a:bodyPr>
          <a:p>
            <a:pPr defTabSz="914400">
              <a:lnSpc>
                <a:spcPts val="2920"/>
              </a:lnSpc>
            </a:pPr>
            <a:r>
              <a:rPr b="1" lang="en-US" sz="2920" spc="-1" strike="noStrike">
                <a:solidFill>
                  <a:srgbClr val="ffffff"/>
                </a:solidFill>
                <a:latin typeface="Poppins"/>
                <a:ea typeface="Poppins"/>
              </a:rPr>
              <a:t>PENGEMBANGAN SISTEM MONITORING OKUPANSI RUANGAN DENGAN </a:t>
            </a:r>
            <a:r>
              <a:rPr b="1" i="1" lang="en-US" sz="2920" spc="-1" strike="noStrike">
                <a:solidFill>
                  <a:srgbClr val="ffffff"/>
                </a:solidFill>
                <a:latin typeface="Poppins"/>
                <a:ea typeface="Poppins"/>
              </a:rPr>
              <a:t>ESP32</a:t>
            </a:r>
            <a:r>
              <a:rPr b="1" lang="en-US" sz="2920" spc="-1" strike="noStrike">
                <a:solidFill>
                  <a:srgbClr val="ffffff"/>
                </a:solidFill>
                <a:latin typeface="Poppins"/>
                <a:ea typeface="Poppins"/>
              </a:rPr>
              <a:t> DAN NOTIFIKASI STATUS </a:t>
            </a:r>
            <a:r>
              <a:rPr b="1" i="1" lang="en-US" sz="2920" spc="-1" strike="noStrike">
                <a:solidFill>
                  <a:srgbClr val="ffffff"/>
                </a:solidFill>
                <a:latin typeface="Poppins"/>
                <a:ea typeface="Poppins"/>
              </a:rPr>
              <a:t>REALTIME</a:t>
            </a:r>
            <a:endParaRPr b="0" lang="id-ID" sz="29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4" name="Group 2"/>
          <p:cNvGrpSpPr/>
          <p:nvPr/>
        </p:nvGrpSpPr>
        <p:grpSpPr>
          <a:xfrm>
            <a:off x="0" y="9708480"/>
            <a:ext cx="18287280" cy="1111320"/>
            <a:chOff x="0" y="9708480"/>
            <a:chExt cx="18287280" cy="1111320"/>
          </a:xfrm>
        </p:grpSpPr>
        <p:sp>
          <p:nvSpPr>
            <p:cNvPr id="75" name="Freeform 3"/>
            <p:cNvSpPr/>
            <p:nvPr/>
          </p:nvSpPr>
          <p:spPr>
            <a:xfrm>
              <a:off x="0" y="9925200"/>
              <a:ext cx="18287280" cy="894240"/>
            </a:xfrm>
            <a:custGeom>
              <a:avLst/>
              <a:gdLst>
                <a:gd name="textAreaLeft" fmla="*/ 0 w 18287280"/>
                <a:gd name="textAreaRight" fmla="*/ 18288360 w 18287280"/>
                <a:gd name="textAreaTop" fmla="*/ 0 h 894240"/>
                <a:gd name="textAreaBottom" fmla="*/ 895320 h 894240"/>
              </a:gdLst>
              <a:ahLst/>
              <a:rect l="textAreaLeft" t="textAreaTop" r="textAreaRight" b="textAreaBottom"/>
              <a:pathLst>
                <a:path w="5184742" h="235815">
                  <a:moveTo>
                    <a:pt x="0" y="0"/>
                  </a:moveTo>
                  <a:lnTo>
                    <a:pt x="5184742" y="0"/>
                  </a:lnTo>
                  <a:lnTo>
                    <a:pt x="5184742" y="235815"/>
                  </a:lnTo>
                  <a:lnTo>
                    <a:pt x="0" y="235815"/>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76" name="TextBox 4"/>
            <p:cNvSpPr/>
            <p:nvPr/>
          </p:nvSpPr>
          <p:spPr>
            <a:xfrm>
              <a:off x="0" y="9708480"/>
              <a:ext cx="18287280" cy="11113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77" name="Group 5"/>
          <p:cNvGrpSpPr/>
          <p:nvPr/>
        </p:nvGrpSpPr>
        <p:grpSpPr>
          <a:xfrm>
            <a:off x="0" y="-720720"/>
            <a:ext cx="18287280" cy="1081440"/>
            <a:chOff x="0" y="-720720"/>
            <a:chExt cx="18287280" cy="1081440"/>
          </a:xfrm>
        </p:grpSpPr>
        <p:sp>
          <p:nvSpPr>
            <p:cNvPr id="78" name="Freeform 6"/>
            <p:cNvSpPr/>
            <p:nvPr/>
          </p:nvSpPr>
          <p:spPr>
            <a:xfrm>
              <a:off x="0" y="-504000"/>
              <a:ext cx="18287280" cy="864360"/>
            </a:xfrm>
            <a:custGeom>
              <a:avLst/>
              <a:gdLst>
                <a:gd name="textAreaLeft" fmla="*/ 0 w 18287280"/>
                <a:gd name="textAreaRight" fmla="*/ 18288360 w 18287280"/>
                <a:gd name="textAreaTop" fmla="*/ 0 h 864360"/>
                <a:gd name="textAreaBottom" fmla="*/ 865440 h 864360"/>
              </a:gdLst>
              <a:ahLst/>
              <a:rect l="textAreaLeft" t="textAreaTop" r="textAreaRight" b="textAreaBottom"/>
              <a:pathLst>
                <a:path w="5184742" h="227954">
                  <a:moveTo>
                    <a:pt x="0" y="0"/>
                  </a:moveTo>
                  <a:lnTo>
                    <a:pt x="5184742" y="0"/>
                  </a:lnTo>
                  <a:lnTo>
                    <a:pt x="5184742" y="227954"/>
                  </a:lnTo>
                  <a:lnTo>
                    <a:pt x="0" y="227954"/>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79" name="TextBox 7"/>
            <p:cNvSpPr/>
            <p:nvPr/>
          </p:nvSpPr>
          <p:spPr>
            <a:xfrm>
              <a:off x="0" y="-720720"/>
              <a:ext cx="18287280" cy="10814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80" name="Group 8"/>
          <p:cNvGrpSpPr/>
          <p:nvPr/>
        </p:nvGrpSpPr>
        <p:grpSpPr>
          <a:xfrm>
            <a:off x="14007960" y="9253080"/>
            <a:ext cx="3244320" cy="444240"/>
            <a:chOff x="14007960" y="9253080"/>
            <a:chExt cx="3244320" cy="444240"/>
          </a:xfrm>
        </p:grpSpPr>
        <p:sp>
          <p:nvSpPr>
            <p:cNvPr id="81" name="TextBox 9"/>
            <p:cNvSpPr/>
            <p:nvPr/>
          </p:nvSpPr>
          <p:spPr>
            <a:xfrm>
              <a:off x="14007960" y="931824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343434"/>
                  </a:solidFill>
                  <a:latin typeface="Coco Gothic Heavy"/>
                  <a:ea typeface="Coco Gothic Heavy"/>
                </a:rPr>
                <a:t>SEMINAR PROPOSAL</a:t>
              </a:r>
              <a:endParaRPr b="0" lang="id-ID" sz="1729" spc="-1" strike="noStrike">
                <a:solidFill>
                  <a:srgbClr val="000000"/>
                </a:solidFill>
                <a:latin typeface="Arial"/>
              </a:endParaRPr>
            </a:p>
          </p:txBody>
        </p:sp>
        <p:sp>
          <p:nvSpPr>
            <p:cNvPr id="82" name="TextBox 10"/>
            <p:cNvSpPr/>
            <p:nvPr/>
          </p:nvSpPr>
          <p:spPr>
            <a:xfrm>
              <a:off x="16656120" y="925308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343434"/>
                  </a:solidFill>
                  <a:latin typeface="Coco Gothic Heavy"/>
                  <a:ea typeface="Coco Gothic Heavy"/>
                </a:rPr>
                <a:t>01</a:t>
              </a:r>
              <a:endParaRPr b="0" lang="id-ID" sz="2500" spc="-1" strike="noStrike">
                <a:solidFill>
                  <a:srgbClr val="000000"/>
                </a:solidFill>
                <a:latin typeface="Arial"/>
              </a:endParaRPr>
            </a:p>
          </p:txBody>
        </p:sp>
        <p:sp>
          <p:nvSpPr>
            <p:cNvPr id="83" name="AutoShape 11"/>
            <p:cNvSpPr/>
            <p:nvPr/>
          </p:nvSpPr>
          <p:spPr>
            <a:xfrm>
              <a:off x="16627680" y="9318240"/>
              <a:ext cx="360" cy="304200"/>
            </a:xfrm>
            <a:prstGeom prst="line">
              <a:avLst/>
            </a:prstGeom>
            <a:ln w="50800">
              <a:solidFill>
                <a:srgbClr val="dcd0c0"/>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84" name="Freeform 12"/>
          <p:cNvSpPr/>
          <p:nvPr/>
        </p:nvSpPr>
        <p:spPr>
          <a:xfrm>
            <a:off x="-1883520" y="8713080"/>
            <a:ext cx="4222800" cy="2106720"/>
          </a:xfrm>
          <a:custGeom>
            <a:avLst/>
            <a:gdLst>
              <a:gd name="textAreaLeft" fmla="*/ 0 w 4222800"/>
              <a:gd name="textAreaRight" fmla="*/ 4223880 w 4222800"/>
              <a:gd name="textAreaTop" fmla="*/ 0 h 2106720"/>
              <a:gd name="textAreaBottom" fmla="*/ 2107800 h 2106720"/>
            </a:gdLst>
            <a:ahLst/>
            <a:rect l="textAreaLeft" t="textAreaTop" r="textAreaRight" b="textAreaBottom"/>
            <a:pathLst>
              <a:path w="5050770" h="2627536">
                <a:moveTo>
                  <a:pt x="0" y="0"/>
                </a:moveTo>
                <a:lnTo>
                  <a:pt x="5050771" y="0"/>
                </a:lnTo>
                <a:lnTo>
                  <a:pt x="5050771" y="2627535"/>
                </a:lnTo>
                <a:lnTo>
                  <a:pt x="0" y="2627535"/>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85" name="Freeform 13"/>
          <p:cNvSpPr/>
          <p:nvPr/>
        </p:nvSpPr>
        <p:spPr>
          <a:xfrm>
            <a:off x="-2684160" y="8470440"/>
            <a:ext cx="3656520" cy="1085040"/>
          </a:xfrm>
          <a:custGeom>
            <a:avLst/>
            <a:gdLst>
              <a:gd name="textAreaLeft" fmla="*/ 0 w 3656520"/>
              <a:gd name="textAreaRight" fmla="*/ 3657600 w 3656520"/>
              <a:gd name="textAreaTop" fmla="*/ 0 h 1085040"/>
              <a:gd name="textAreaBottom" fmla="*/ 1086120 h 1085040"/>
            </a:gdLst>
            <a:ahLst/>
            <a:rect l="textAreaLeft" t="textAreaTop" r="textAreaRight" b="textAreaBottom"/>
            <a:pathLst>
              <a:path w="3657600" h="1086118">
                <a:moveTo>
                  <a:pt x="0" y="0"/>
                </a:moveTo>
                <a:lnTo>
                  <a:pt x="3657600" y="0"/>
                </a:lnTo>
                <a:lnTo>
                  <a:pt x="3657600" y="1086118"/>
                </a:lnTo>
                <a:lnTo>
                  <a:pt x="0" y="108611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grpSp>
        <p:nvGrpSpPr>
          <p:cNvPr id="86" name="Group 17"/>
          <p:cNvGrpSpPr/>
          <p:nvPr/>
        </p:nvGrpSpPr>
        <p:grpSpPr>
          <a:xfrm>
            <a:off x="404640" y="541800"/>
            <a:ext cx="3555000" cy="1077840"/>
            <a:chOff x="404640" y="541800"/>
            <a:chExt cx="3555000" cy="1077840"/>
          </a:xfrm>
        </p:grpSpPr>
        <p:sp>
          <p:nvSpPr>
            <p:cNvPr id="87" name="Freeform 18"/>
            <p:cNvSpPr/>
            <p:nvPr/>
          </p:nvSpPr>
          <p:spPr>
            <a:xfrm>
              <a:off x="404640" y="541800"/>
              <a:ext cx="1005480" cy="1077840"/>
            </a:xfrm>
            <a:custGeom>
              <a:avLst/>
              <a:gdLst>
                <a:gd name="textAreaLeft" fmla="*/ 0 w 1005480"/>
                <a:gd name="textAreaRight" fmla="*/ 1006560 w 1005480"/>
                <a:gd name="textAreaTop" fmla="*/ 0 h 1077840"/>
                <a:gd name="textAreaBottom" fmla="*/ 1078920 h 107784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88" name="TextBox 19"/>
            <p:cNvSpPr/>
            <p:nvPr/>
          </p:nvSpPr>
          <p:spPr>
            <a:xfrm>
              <a:off x="1734120" y="761040"/>
              <a:ext cx="1841040" cy="23364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89" name="TextBox 20"/>
            <p:cNvSpPr/>
            <p:nvPr/>
          </p:nvSpPr>
          <p:spPr>
            <a:xfrm>
              <a:off x="1349280" y="1089000"/>
              <a:ext cx="2610360" cy="467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
        <p:nvSpPr>
          <p:cNvPr id="90" name="TextBox 16"/>
          <p:cNvSpPr/>
          <p:nvPr/>
        </p:nvSpPr>
        <p:spPr>
          <a:xfrm>
            <a:off x="823680" y="3066480"/>
            <a:ext cx="5475960" cy="2127600"/>
          </a:xfrm>
          <a:prstGeom prst="rect">
            <a:avLst/>
          </a:prstGeom>
          <a:noFill/>
          <a:ln w="0">
            <a:noFill/>
          </a:ln>
        </p:spPr>
        <p:style>
          <a:lnRef idx="0"/>
          <a:fillRef idx="0"/>
          <a:effectRef idx="0"/>
          <a:fontRef idx="minor"/>
        </p:style>
        <p:txBody>
          <a:bodyPr lIns="0" rIns="0" tIns="0" bIns="0" anchor="t">
            <a:spAutoFit/>
          </a:bodyPr>
          <a:p>
            <a:pPr defTabSz="914400">
              <a:lnSpc>
                <a:spcPts val="8376"/>
              </a:lnSpc>
            </a:pPr>
            <a:r>
              <a:rPr b="1" lang="en-US" sz="7550" spc="-1" strike="noStrike">
                <a:solidFill>
                  <a:srgbClr val="343434"/>
                </a:solidFill>
                <a:latin typeface="Coco Gothic Heavy"/>
                <a:ea typeface="Coco Gothic Heavy"/>
              </a:rPr>
              <a:t>Latar Belakang</a:t>
            </a:r>
            <a:endParaRPr b="0" lang="id-ID" sz="7550" spc="-1" strike="noStrike">
              <a:solidFill>
                <a:srgbClr val="000000"/>
              </a:solidFill>
              <a:latin typeface="Arial"/>
            </a:endParaRPr>
          </a:p>
        </p:txBody>
      </p:sp>
      <p:grpSp>
        <p:nvGrpSpPr>
          <p:cNvPr id="91" name="Group 18"/>
          <p:cNvGrpSpPr/>
          <p:nvPr/>
        </p:nvGrpSpPr>
        <p:grpSpPr>
          <a:xfrm>
            <a:off x="5760000" y="1620000"/>
            <a:ext cx="12527640" cy="6119640"/>
            <a:chOff x="5760000" y="1620000"/>
            <a:chExt cx="12527640" cy="6119640"/>
          </a:xfrm>
        </p:grpSpPr>
        <p:sp>
          <p:nvSpPr>
            <p:cNvPr id="92" name="Freeform 31"/>
            <p:cNvSpPr/>
            <p:nvPr/>
          </p:nvSpPr>
          <p:spPr>
            <a:xfrm>
              <a:off x="5760000" y="2071080"/>
              <a:ext cx="12527640" cy="5667840"/>
            </a:xfrm>
            <a:custGeom>
              <a:avLst/>
              <a:gdLst>
                <a:gd name="textAreaLeft" fmla="*/ 0 w 12527640"/>
                <a:gd name="textAreaRight" fmla="*/ 12528360 w 12527640"/>
                <a:gd name="textAreaTop" fmla="*/ 0 h 5667840"/>
                <a:gd name="textAreaBottom" fmla="*/ 5668920 h 5667840"/>
              </a:gdLst>
              <a:ahLst/>
              <a:rect l="textAreaLeft" t="textAreaTop" r="textAreaRight" b="textAreaBottom"/>
              <a:pathLst>
                <a:path w="2741556" h="718242">
                  <a:moveTo>
                    <a:pt x="0" y="0"/>
                  </a:moveTo>
                  <a:lnTo>
                    <a:pt x="2741556" y="0"/>
                  </a:lnTo>
                  <a:lnTo>
                    <a:pt x="2741556" y="718242"/>
                  </a:lnTo>
                  <a:lnTo>
                    <a:pt x="0" y="71824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93" name="TextBox 42"/>
            <p:cNvSpPr/>
            <p:nvPr/>
          </p:nvSpPr>
          <p:spPr>
            <a:xfrm>
              <a:off x="5760000" y="1620000"/>
              <a:ext cx="12527640" cy="611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sp>
        <p:nvSpPr>
          <p:cNvPr id="94" name="TextBox 15"/>
          <p:cNvSpPr/>
          <p:nvPr/>
        </p:nvSpPr>
        <p:spPr>
          <a:xfrm>
            <a:off x="6477120" y="2897640"/>
            <a:ext cx="10337400" cy="3771000"/>
          </a:xfrm>
          <a:prstGeom prst="rect">
            <a:avLst/>
          </a:prstGeom>
          <a:noFill/>
          <a:ln w="0">
            <a:noFill/>
          </a:ln>
        </p:spPr>
        <p:style>
          <a:lnRef idx="0"/>
          <a:fillRef idx="0"/>
          <a:effectRef idx="0"/>
          <a:fontRef idx="minor"/>
        </p:style>
        <p:txBody>
          <a:bodyPr lIns="0" rIns="0" tIns="0" bIns="0" anchor="t">
            <a:spAutoFit/>
          </a:bodyPr>
          <a:p>
            <a:pPr algn="just" defTabSz="914400">
              <a:lnSpc>
                <a:spcPts val="3300"/>
              </a:lnSpc>
            </a:pPr>
            <a:endParaRPr b="0" lang="id-ID" sz="3200" spc="-1" strike="noStrike">
              <a:solidFill>
                <a:srgbClr val="000000"/>
              </a:solidFill>
              <a:latin typeface="Arial"/>
            </a:endParaRPr>
          </a:p>
          <a:p>
            <a:pPr marL="343080" indent="-343080" algn="just" defTabSz="914400">
              <a:lnSpc>
                <a:spcPts val="3300"/>
              </a:lnSpc>
              <a:buClr>
                <a:srgbClr val="343434"/>
              </a:buClr>
              <a:buFont typeface="Wingdings" charset="2"/>
              <a:buChar char=""/>
            </a:pPr>
            <a:r>
              <a:rPr b="0" lang="en-US" sz="3200" spc="-1" strike="noStrike">
                <a:solidFill>
                  <a:srgbClr val="343434"/>
                </a:solidFill>
                <a:latin typeface="Poppins"/>
                <a:ea typeface="Poppins"/>
              </a:rPr>
              <a:t>Penggunaan ruang kuliah yang terkadang masih manual dan sering bentrok jadwal,</a:t>
            </a:r>
            <a:endParaRPr b="0" lang="id-ID" sz="3200" spc="-1" strike="noStrike">
              <a:solidFill>
                <a:srgbClr val="000000"/>
              </a:solidFill>
              <a:latin typeface="Arial"/>
            </a:endParaRPr>
          </a:p>
          <a:p>
            <a:pPr algn="just" defTabSz="914400">
              <a:lnSpc>
                <a:spcPts val="3300"/>
              </a:lnSpc>
            </a:pPr>
            <a:endParaRPr b="0" lang="id-ID" sz="3200" spc="-1" strike="noStrike">
              <a:solidFill>
                <a:srgbClr val="000000"/>
              </a:solidFill>
              <a:latin typeface="Arial"/>
            </a:endParaRPr>
          </a:p>
          <a:p>
            <a:pPr marL="343080" indent="-343080" algn="just" defTabSz="914400">
              <a:lnSpc>
                <a:spcPts val="3300"/>
              </a:lnSpc>
              <a:buClr>
                <a:srgbClr val="343434"/>
              </a:buClr>
              <a:buFont typeface="Wingdings" charset="2"/>
              <a:buChar char=""/>
            </a:pPr>
            <a:r>
              <a:rPr b="0" lang="en-US" sz="3200" spc="-1" strike="noStrike">
                <a:solidFill>
                  <a:srgbClr val="343434"/>
                </a:solidFill>
                <a:latin typeface="Poppins"/>
                <a:ea typeface="Poppins"/>
              </a:rPr>
              <a:t>Dorongan untuk memanfaatkan IoT dalam Kampus (</a:t>
            </a:r>
            <a:r>
              <a:rPr b="0" i="1" lang="en-US" sz="3200" spc="-1" strike="noStrike">
                <a:solidFill>
                  <a:srgbClr val="343434"/>
                </a:solidFill>
                <a:latin typeface="Poppins"/>
                <a:ea typeface="Poppins"/>
              </a:rPr>
              <a:t>Smart Campuss</a:t>
            </a:r>
            <a:r>
              <a:rPr b="0" lang="en-US" sz="3200" spc="-1" strike="noStrike">
                <a:solidFill>
                  <a:srgbClr val="343434"/>
                </a:solidFill>
                <a:latin typeface="Poppins"/>
                <a:ea typeface="Poppins"/>
              </a:rPr>
              <a:t>),</a:t>
            </a:r>
            <a:endParaRPr b="0" lang="id-ID" sz="3200" spc="-1" strike="noStrike">
              <a:solidFill>
                <a:srgbClr val="000000"/>
              </a:solidFill>
              <a:latin typeface="Arial"/>
            </a:endParaRPr>
          </a:p>
          <a:p>
            <a:pPr algn="just" defTabSz="914400">
              <a:lnSpc>
                <a:spcPts val="3300"/>
              </a:lnSpc>
            </a:pPr>
            <a:endParaRPr b="0" lang="id-ID" sz="3200" spc="-1" strike="noStrike">
              <a:solidFill>
                <a:srgbClr val="000000"/>
              </a:solidFill>
              <a:latin typeface="Arial"/>
            </a:endParaRPr>
          </a:p>
          <a:p>
            <a:pPr marL="343080" indent="-343080" algn="just" defTabSz="914400">
              <a:lnSpc>
                <a:spcPts val="3300"/>
              </a:lnSpc>
              <a:buClr>
                <a:srgbClr val="343434"/>
              </a:buClr>
              <a:buFont typeface="Wingdings" charset="2"/>
              <a:buChar char=""/>
            </a:pPr>
            <a:r>
              <a:rPr b="0" lang="en-US" sz="3200" spc="-1" strike="noStrike">
                <a:solidFill>
                  <a:srgbClr val="343434"/>
                </a:solidFill>
                <a:latin typeface="Poppins"/>
                <a:ea typeface="Poppins"/>
              </a:rPr>
              <a:t>Kebutuhan informasi penggunaan ruangan yang tepat.</a:t>
            </a:r>
            <a:endParaRPr b="0" lang="id-ID"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5" name="Group 2"/>
          <p:cNvGrpSpPr/>
          <p:nvPr/>
        </p:nvGrpSpPr>
        <p:grpSpPr>
          <a:xfrm>
            <a:off x="-772920" y="9708480"/>
            <a:ext cx="19684800" cy="1142280"/>
            <a:chOff x="-772920" y="9708480"/>
            <a:chExt cx="19684800" cy="1142280"/>
          </a:xfrm>
        </p:grpSpPr>
        <p:sp>
          <p:nvSpPr>
            <p:cNvPr id="96" name="Freeform 3"/>
            <p:cNvSpPr/>
            <p:nvPr/>
          </p:nvSpPr>
          <p:spPr>
            <a:xfrm>
              <a:off x="-772920" y="9925200"/>
              <a:ext cx="19684800" cy="925200"/>
            </a:xfrm>
            <a:custGeom>
              <a:avLst/>
              <a:gdLst>
                <a:gd name="textAreaLeft" fmla="*/ 0 w 19684800"/>
                <a:gd name="textAreaRight" fmla="*/ 19685880 w 19684800"/>
                <a:gd name="textAreaTop" fmla="*/ 0 h 925200"/>
                <a:gd name="textAreaBottom" fmla="*/ 926280 h 925200"/>
              </a:gdLst>
              <a:ahLst/>
              <a:rect l="textAreaLeft" t="textAreaTop" r="textAreaRight" b="textAreaBottom"/>
              <a:pathLst>
                <a:path w="5184742" h="243975">
                  <a:moveTo>
                    <a:pt x="0" y="0"/>
                  </a:moveTo>
                  <a:lnTo>
                    <a:pt x="5184742" y="0"/>
                  </a:lnTo>
                  <a:lnTo>
                    <a:pt x="5184742" y="243975"/>
                  </a:lnTo>
                  <a:lnTo>
                    <a:pt x="0" y="243975"/>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97" name="TextBox 4"/>
            <p:cNvSpPr/>
            <p:nvPr/>
          </p:nvSpPr>
          <p:spPr>
            <a:xfrm>
              <a:off x="-772920" y="9708480"/>
              <a:ext cx="19684800" cy="1142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98" name="Group 5"/>
          <p:cNvGrpSpPr/>
          <p:nvPr/>
        </p:nvGrpSpPr>
        <p:grpSpPr>
          <a:xfrm>
            <a:off x="-698760" y="-640800"/>
            <a:ext cx="19684800" cy="1001520"/>
            <a:chOff x="-698760" y="-640800"/>
            <a:chExt cx="19684800" cy="1001520"/>
          </a:xfrm>
        </p:grpSpPr>
        <p:sp>
          <p:nvSpPr>
            <p:cNvPr id="99" name="Freeform 6"/>
            <p:cNvSpPr/>
            <p:nvPr/>
          </p:nvSpPr>
          <p:spPr>
            <a:xfrm>
              <a:off x="-698760" y="-424080"/>
              <a:ext cx="19684800" cy="784440"/>
            </a:xfrm>
            <a:custGeom>
              <a:avLst/>
              <a:gdLst>
                <a:gd name="textAreaLeft" fmla="*/ 0 w 19684800"/>
                <a:gd name="textAreaRight" fmla="*/ 19685880 w 19684800"/>
                <a:gd name="textAreaTop" fmla="*/ 0 h 784440"/>
                <a:gd name="textAreaBottom" fmla="*/ 785520 h 784440"/>
              </a:gdLst>
              <a:ahLst/>
              <a:rect l="textAreaLeft" t="textAreaTop" r="textAreaRight" b="textAreaBottom"/>
              <a:pathLst>
                <a:path w="5184742" h="206920">
                  <a:moveTo>
                    <a:pt x="0" y="0"/>
                  </a:moveTo>
                  <a:lnTo>
                    <a:pt x="5184742" y="0"/>
                  </a:lnTo>
                  <a:lnTo>
                    <a:pt x="5184742" y="206920"/>
                  </a:lnTo>
                  <a:lnTo>
                    <a:pt x="0" y="206920"/>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00" name="TextBox 7"/>
            <p:cNvSpPr/>
            <p:nvPr/>
          </p:nvSpPr>
          <p:spPr>
            <a:xfrm>
              <a:off x="-698760" y="-640800"/>
              <a:ext cx="19684800" cy="1001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01" name="Group 8"/>
          <p:cNvGrpSpPr/>
          <p:nvPr/>
        </p:nvGrpSpPr>
        <p:grpSpPr>
          <a:xfrm>
            <a:off x="5104080" y="1322640"/>
            <a:ext cx="13182840" cy="3727800"/>
            <a:chOff x="5104080" y="1322640"/>
            <a:chExt cx="13182840" cy="3727800"/>
          </a:xfrm>
        </p:grpSpPr>
        <p:sp>
          <p:nvSpPr>
            <p:cNvPr id="102" name="Freeform 9"/>
            <p:cNvSpPr/>
            <p:nvPr/>
          </p:nvSpPr>
          <p:spPr>
            <a:xfrm>
              <a:off x="5104080" y="1597320"/>
              <a:ext cx="13182840" cy="3452760"/>
            </a:xfrm>
            <a:custGeom>
              <a:avLst/>
              <a:gdLst>
                <a:gd name="textAreaLeft" fmla="*/ 0 w 13182840"/>
                <a:gd name="textAreaRight" fmla="*/ 13183920 w 13182840"/>
                <a:gd name="textAreaTop" fmla="*/ 0 h 3452760"/>
                <a:gd name="textAreaBottom" fmla="*/ 3453840 h 3452760"/>
              </a:gdLst>
              <a:ahLst/>
              <a:rect l="textAreaLeft" t="textAreaTop" r="textAreaRight" b="textAreaBottom"/>
              <a:pathLst>
                <a:path w="2741556" h="718242">
                  <a:moveTo>
                    <a:pt x="0" y="0"/>
                  </a:moveTo>
                  <a:lnTo>
                    <a:pt x="2741556" y="0"/>
                  </a:lnTo>
                  <a:lnTo>
                    <a:pt x="2741556" y="718242"/>
                  </a:lnTo>
                  <a:lnTo>
                    <a:pt x="0" y="71824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03" name="TextBox 10"/>
            <p:cNvSpPr/>
            <p:nvPr/>
          </p:nvSpPr>
          <p:spPr>
            <a:xfrm>
              <a:off x="5104080" y="1322640"/>
              <a:ext cx="13182840" cy="3727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04" name="Group 11"/>
          <p:cNvGrpSpPr/>
          <p:nvPr/>
        </p:nvGrpSpPr>
        <p:grpSpPr>
          <a:xfrm>
            <a:off x="14007960" y="9253080"/>
            <a:ext cx="3244320" cy="444240"/>
            <a:chOff x="14007960" y="9253080"/>
            <a:chExt cx="3244320" cy="444240"/>
          </a:xfrm>
        </p:grpSpPr>
        <p:sp>
          <p:nvSpPr>
            <p:cNvPr id="105" name="TextBox 12"/>
            <p:cNvSpPr/>
            <p:nvPr/>
          </p:nvSpPr>
          <p:spPr>
            <a:xfrm>
              <a:off x="14007960" y="931824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343434"/>
                  </a:solidFill>
                  <a:latin typeface="Coco Gothic Heavy"/>
                  <a:ea typeface="Coco Gothic Heavy"/>
                </a:rPr>
                <a:t>SEMINAR PROPOSAL</a:t>
              </a:r>
              <a:endParaRPr b="0" lang="id-ID" sz="1729" spc="-1" strike="noStrike">
                <a:solidFill>
                  <a:srgbClr val="000000"/>
                </a:solidFill>
                <a:latin typeface="Arial"/>
              </a:endParaRPr>
            </a:p>
          </p:txBody>
        </p:sp>
        <p:sp>
          <p:nvSpPr>
            <p:cNvPr id="106" name="TextBox 13"/>
            <p:cNvSpPr/>
            <p:nvPr/>
          </p:nvSpPr>
          <p:spPr>
            <a:xfrm>
              <a:off x="16656120" y="925308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343434"/>
                  </a:solidFill>
                  <a:latin typeface="Coco Gothic Heavy"/>
                  <a:ea typeface="Coco Gothic Heavy"/>
                </a:rPr>
                <a:t>02</a:t>
              </a:r>
              <a:endParaRPr b="0" lang="id-ID" sz="2500" spc="-1" strike="noStrike">
                <a:solidFill>
                  <a:srgbClr val="000000"/>
                </a:solidFill>
                <a:latin typeface="Arial"/>
              </a:endParaRPr>
            </a:p>
          </p:txBody>
        </p:sp>
        <p:sp>
          <p:nvSpPr>
            <p:cNvPr id="107" name="AutoShape 14"/>
            <p:cNvSpPr/>
            <p:nvPr/>
          </p:nvSpPr>
          <p:spPr>
            <a:xfrm>
              <a:off x="16627680" y="9318240"/>
              <a:ext cx="360" cy="304200"/>
            </a:xfrm>
            <a:prstGeom prst="line">
              <a:avLst/>
            </a:prstGeom>
            <a:ln w="50800">
              <a:solidFill>
                <a:srgbClr val="dcd0c0"/>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grpSp>
        <p:nvGrpSpPr>
          <p:cNvPr id="108" name="Group 15"/>
          <p:cNvGrpSpPr/>
          <p:nvPr/>
        </p:nvGrpSpPr>
        <p:grpSpPr>
          <a:xfrm>
            <a:off x="7432920" y="1901880"/>
            <a:ext cx="10469880" cy="2957400"/>
            <a:chOff x="7432920" y="1901880"/>
            <a:chExt cx="10469880" cy="2957400"/>
          </a:xfrm>
        </p:grpSpPr>
        <p:sp>
          <p:nvSpPr>
            <p:cNvPr id="109" name="TextBox 16"/>
            <p:cNvSpPr/>
            <p:nvPr/>
          </p:nvSpPr>
          <p:spPr>
            <a:xfrm>
              <a:off x="7432920" y="2415240"/>
              <a:ext cx="10469880" cy="2444040"/>
            </a:xfrm>
            <a:prstGeom prst="rect">
              <a:avLst/>
            </a:prstGeom>
            <a:noFill/>
            <a:ln w="0">
              <a:noFill/>
            </a:ln>
          </p:spPr>
          <p:style>
            <a:lnRef idx="0"/>
            <a:fillRef idx="0"/>
            <a:effectRef idx="0"/>
            <a:fontRef idx="minor"/>
          </p:style>
          <p:txBody>
            <a:bodyPr lIns="0" rIns="0" tIns="0" bIns="0" anchor="t">
              <a:spAutoFit/>
            </a:bodyPr>
            <a:p>
              <a:pPr algn="just" defTabSz="914400">
                <a:lnSpc>
                  <a:spcPts val="3849"/>
                </a:lnSpc>
              </a:pPr>
              <a:r>
                <a:rPr b="0" lang="en-US" sz="2750" spc="-1" strike="noStrike">
                  <a:solidFill>
                    <a:srgbClr val="343434"/>
                  </a:solidFill>
                  <a:latin typeface="Poppins"/>
                  <a:ea typeface="Poppins"/>
                </a:rPr>
                <a:t>Bagaimana merancang sistem monitoring okupansi ruangan berbasis mikrokontroler ESP32 yang terintegrasi dengan Firebase Realtime Database dan web dashboard untuk menampilkan status penggunaan ruang serta memberikan notifikasi secara real-time?</a:t>
              </a:r>
              <a:endParaRPr b="0" lang="id-ID" sz="2750" spc="-1" strike="noStrike">
                <a:solidFill>
                  <a:srgbClr val="000000"/>
                </a:solidFill>
                <a:latin typeface="Arial"/>
              </a:endParaRPr>
            </a:p>
          </p:txBody>
        </p:sp>
        <p:sp>
          <p:nvSpPr>
            <p:cNvPr id="110" name="TextBox 17"/>
            <p:cNvSpPr/>
            <p:nvPr/>
          </p:nvSpPr>
          <p:spPr>
            <a:xfrm>
              <a:off x="7432920" y="1901880"/>
              <a:ext cx="8473320" cy="488520"/>
            </a:xfrm>
            <a:prstGeom prst="rect">
              <a:avLst/>
            </a:prstGeom>
            <a:noFill/>
            <a:ln w="0">
              <a:noFill/>
            </a:ln>
          </p:spPr>
          <p:style>
            <a:lnRef idx="0"/>
            <a:fillRef idx="0"/>
            <a:effectRef idx="0"/>
            <a:fontRef idx="minor"/>
          </p:style>
          <p:txBody>
            <a:bodyPr lIns="0" rIns="0" tIns="0" bIns="0" anchor="t">
              <a:spAutoFit/>
            </a:bodyPr>
            <a:p>
              <a:pPr algn="just" defTabSz="914400">
                <a:lnSpc>
                  <a:spcPts val="3849"/>
                </a:lnSpc>
              </a:pPr>
              <a:r>
                <a:rPr b="1" lang="en-US" sz="2750" spc="-1" strike="noStrike">
                  <a:solidFill>
                    <a:srgbClr val="343434"/>
                  </a:solidFill>
                  <a:latin typeface="Coco Gothic Bold"/>
                  <a:ea typeface="Coco Gothic Bold"/>
                </a:rPr>
                <a:t>Rumusan Satu</a:t>
              </a:r>
              <a:endParaRPr b="0" lang="id-ID" sz="2750" spc="-1" strike="noStrike">
                <a:solidFill>
                  <a:srgbClr val="000000"/>
                </a:solidFill>
                <a:latin typeface="Arial"/>
              </a:endParaRPr>
            </a:p>
          </p:txBody>
        </p:sp>
      </p:grpSp>
      <p:sp>
        <p:nvSpPr>
          <p:cNvPr id="111" name="Freeform 18"/>
          <p:cNvSpPr/>
          <p:nvPr/>
        </p:nvSpPr>
        <p:spPr>
          <a:xfrm>
            <a:off x="16736400" y="-996840"/>
            <a:ext cx="3102120" cy="3102120"/>
          </a:xfrm>
          <a:custGeom>
            <a:avLst/>
            <a:gdLst>
              <a:gd name="textAreaLeft" fmla="*/ 0 w 3102120"/>
              <a:gd name="textAreaRight" fmla="*/ 3103200 w 3102120"/>
              <a:gd name="textAreaTop" fmla="*/ 0 h 3102120"/>
              <a:gd name="textAreaBottom" fmla="*/ 3103200 h 3102120"/>
            </a:gdLst>
            <a:ahLst/>
            <a:rect l="textAreaLeft" t="textAreaTop" r="textAreaRight" b="textAreaBottom"/>
            <a:pathLst>
              <a:path w="3103321" h="3103321">
                <a:moveTo>
                  <a:pt x="0" y="0"/>
                </a:moveTo>
                <a:lnTo>
                  <a:pt x="3103322" y="0"/>
                </a:lnTo>
                <a:lnTo>
                  <a:pt x="3103322" y="3103321"/>
                </a:lnTo>
                <a:lnTo>
                  <a:pt x="0" y="3103321"/>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12" name="Freeform 19"/>
          <p:cNvSpPr/>
          <p:nvPr/>
        </p:nvSpPr>
        <p:spPr>
          <a:xfrm>
            <a:off x="-216720" y="7703640"/>
            <a:ext cx="2376000" cy="2129040"/>
          </a:xfrm>
          <a:custGeom>
            <a:avLst/>
            <a:gdLst>
              <a:gd name="textAreaLeft" fmla="*/ 0 w 2376000"/>
              <a:gd name="textAreaRight" fmla="*/ 2377080 w 2376000"/>
              <a:gd name="textAreaTop" fmla="*/ 0 h 2129040"/>
              <a:gd name="textAreaBottom" fmla="*/ 2130120 h 2129040"/>
            </a:gdLst>
            <a:ahLst/>
            <a:rect l="textAreaLeft" t="textAreaTop" r="textAreaRight" b="textAreaBottom"/>
            <a:pathLst>
              <a:path w="4090403" h="3665602">
                <a:moveTo>
                  <a:pt x="0" y="0"/>
                </a:moveTo>
                <a:lnTo>
                  <a:pt x="4090403" y="0"/>
                </a:lnTo>
                <a:lnTo>
                  <a:pt x="4090403" y="3665602"/>
                </a:lnTo>
                <a:lnTo>
                  <a:pt x="0" y="3665602"/>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13" name="TextBox 20"/>
          <p:cNvSpPr/>
          <p:nvPr/>
        </p:nvSpPr>
        <p:spPr>
          <a:xfrm>
            <a:off x="508320" y="1870200"/>
            <a:ext cx="5167440" cy="1691640"/>
          </a:xfrm>
          <a:prstGeom prst="rect">
            <a:avLst/>
          </a:prstGeom>
          <a:noFill/>
          <a:ln w="0">
            <a:noFill/>
          </a:ln>
        </p:spPr>
        <p:style>
          <a:lnRef idx="0"/>
          <a:fillRef idx="0"/>
          <a:effectRef idx="0"/>
          <a:fontRef idx="minor"/>
        </p:style>
        <p:txBody>
          <a:bodyPr lIns="0" rIns="0" tIns="0" bIns="0" anchor="t">
            <a:spAutoFit/>
          </a:bodyPr>
          <a:p>
            <a:pPr defTabSz="914400">
              <a:lnSpc>
                <a:spcPts val="6661"/>
              </a:lnSpc>
            </a:pPr>
            <a:r>
              <a:rPr b="1" lang="en-US" sz="6000" spc="-1" strike="noStrike">
                <a:solidFill>
                  <a:srgbClr val="343434"/>
                </a:solidFill>
                <a:latin typeface="Coco Gothic Heavy"/>
                <a:ea typeface="Coco Gothic Heavy"/>
              </a:rPr>
              <a:t>RUMUSAN MASALAH</a:t>
            </a:r>
            <a:endParaRPr b="0" lang="id-ID" sz="6000" spc="-1" strike="noStrike">
              <a:solidFill>
                <a:srgbClr val="000000"/>
              </a:solidFill>
              <a:latin typeface="Arial"/>
            </a:endParaRPr>
          </a:p>
        </p:txBody>
      </p:sp>
      <p:sp>
        <p:nvSpPr>
          <p:cNvPr id="114" name="TextBox 21"/>
          <p:cNvSpPr/>
          <p:nvPr/>
        </p:nvSpPr>
        <p:spPr>
          <a:xfrm>
            <a:off x="5400720" y="2091960"/>
            <a:ext cx="1690560" cy="1290600"/>
          </a:xfrm>
          <a:prstGeom prst="rect">
            <a:avLst/>
          </a:prstGeom>
          <a:noFill/>
          <a:ln w="0">
            <a:noFill/>
          </a:ln>
        </p:spPr>
        <p:style>
          <a:lnRef idx="0"/>
          <a:fillRef idx="0"/>
          <a:effectRef idx="0"/>
          <a:fontRef idx="minor"/>
        </p:style>
        <p:txBody>
          <a:bodyPr lIns="0" rIns="0" tIns="0" bIns="0" anchor="t">
            <a:spAutoFit/>
          </a:bodyPr>
          <a:p>
            <a:pPr defTabSz="914400">
              <a:lnSpc>
                <a:spcPts val="10165"/>
              </a:lnSpc>
            </a:pPr>
            <a:r>
              <a:rPr b="1" lang="en-US" sz="7260" spc="-1" strike="noStrike">
                <a:solidFill>
                  <a:srgbClr val="343434"/>
                </a:solidFill>
                <a:latin typeface="Coco Gothic Heavy"/>
                <a:ea typeface="Coco Gothic Heavy"/>
              </a:rPr>
              <a:t>01.</a:t>
            </a:r>
            <a:endParaRPr b="0" lang="id-ID" sz="7260" spc="-1" strike="noStrike">
              <a:solidFill>
                <a:srgbClr val="000000"/>
              </a:solidFill>
              <a:latin typeface="Arial"/>
            </a:endParaRPr>
          </a:p>
        </p:txBody>
      </p:sp>
      <p:grpSp>
        <p:nvGrpSpPr>
          <p:cNvPr id="115" name="Group 22"/>
          <p:cNvGrpSpPr/>
          <p:nvPr/>
        </p:nvGrpSpPr>
        <p:grpSpPr>
          <a:xfrm>
            <a:off x="5104080" y="4776480"/>
            <a:ext cx="13182840" cy="3727800"/>
            <a:chOff x="5104080" y="4776480"/>
            <a:chExt cx="13182840" cy="3727800"/>
          </a:xfrm>
        </p:grpSpPr>
        <p:sp>
          <p:nvSpPr>
            <p:cNvPr id="116" name="Freeform 23"/>
            <p:cNvSpPr/>
            <p:nvPr/>
          </p:nvSpPr>
          <p:spPr>
            <a:xfrm>
              <a:off x="5104080" y="5051520"/>
              <a:ext cx="13182840" cy="3452760"/>
            </a:xfrm>
            <a:custGeom>
              <a:avLst/>
              <a:gdLst>
                <a:gd name="textAreaLeft" fmla="*/ 0 w 13182840"/>
                <a:gd name="textAreaRight" fmla="*/ 13183920 w 13182840"/>
                <a:gd name="textAreaTop" fmla="*/ 0 h 3452760"/>
                <a:gd name="textAreaBottom" fmla="*/ 3453840 h 3452760"/>
              </a:gdLst>
              <a:ahLst/>
              <a:rect l="textAreaLeft" t="textAreaTop" r="textAreaRight" b="textAreaBottom"/>
              <a:pathLst>
                <a:path w="2741556" h="718242">
                  <a:moveTo>
                    <a:pt x="0" y="0"/>
                  </a:moveTo>
                  <a:lnTo>
                    <a:pt x="2741556" y="0"/>
                  </a:lnTo>
                  <a:lnTo>
                    <a:pt x="2741556" y="718242"/>
                  </a:lnTo>
                  <a:lnTo>
                    <a:pt x="0" y="718242"/>
                  </a:lnTo>
                  <a:close/>
                </a:path>
              </a:pathLst>
            </a:cu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17" name="TextBox 24"/>
            <p:cNvSpPr/>
            <p:nvPr/>
          </p:nvSpPr>
          <p:spPr>
            <a:xfrm>
              <a:off x="5104080" y="4776480"/>
              <a:ext cx="13182840" cy="37278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18" name="Group 1"/>
          <p:cNvGrpSpPr/>
          <p:nvPr/>
        </p:nvGrpSpPr>
        <p:grpSpPr>
          <a:xfrm>
            <a:off x="5104080" y="4812480"/>
            <a:ext cx="13182840" cy="3727800"/>
            <a:chOff x="5104080" y="4812480"/>
            <a:chExt cx="13182840" cy="3727800"/>
          </a:xfrm>
        </p:grpSpPr>
        <p:sp>
          <p:nvSpPr>
            <p:cNvPr id="119" name="Freeform 1"/>
            <p:cNvSpPr/>
            <p:nvPr/>
          </p:nvSpPr>
          <p:spPr>
            <a:xfrm>
              <a:off x="5104080" y="5087160"/>
              <a:ext cx="13182840" cy="3452760"/>
            </a:xfrm>
            <a:custGeom>
              <a:avLst/>
              <a:gdLst>
                <a:gd name="textAreaLeft" fmla="*/ 0 w 13182840"/>
                <a:gd name="textAreaRight" fmla="*/ 13183920 w 13182840"/>
                <a:gd name="textAreaTop" fmla="*/ 0 h 3452760"/>
                <a:gd name="textAreaBottom" fmla="*/ 3453840 h 3452760"/>
              </a:gdLst>
              <a:ahLst/>
              <a:rect l="textAreaLeft" t="textAreaTop" r="textAreaRight" b="textAreaBottom"/>
              <a:pathLst>
                <a:path w="2741556" h="718242">
                  <a:moveTo>
                    <a:pt x="0" y="0"/>
                  </a:moveTo>
                  <a:lnTo>
                    <a:pt x="2741556" y="0"/>
                  </a:lnTo>
                  <a:lnTo>
                    <a:pt x="2741556" y="718242"/>
                  </a:lnTo>
                  <a:lnTo>
                    <a:pt x="0" y="71824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20" name="TextBox 2"/>
            <p:cNvSpPr/>
            <p:nvPr/>
          </p:nvSpPr>
          <p:spPr>
            <a:xfrm>
              <a:off x="5104080" y="4812480"/>
              <a:ext cx="13182840" cy="3727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grpSp>
        <p:nvGrpSpPr>
          <p:cNvPr id="121" name="Group 25"/>
          <p:cNvGrpSpPr/>
          <p:nvPr/>
        </p:nvGrpSpPr>
        <p:grpSpPr>
          <a:xfrm>
            <a:off x="7432920" y="5355720"/>
            <a:ext cx="10469880" cy="2468520"/>
            <a:chOff x="7432920" y="5355720"/>
            <a:chExt cx="10469880" cy="2468520"/>
          </a:xfrm>
        </p:grpSpPr>
        <p:sp>
          <p:nvSpPr>
            <p:cNvPr id="122" name="TextBox 26"/>
            <p:cNvSpPr/>
            <p:nvPr/>
          </p:nvSpPr>
          <p:spPr>
            <a:xfrm>
              <a:off x="7432920" y="5869080"/>
              <a:ext cx="10469880" cy="1955160"/>
            </a:xfrm>
            <a:prstGeom prst="rect">
              <a:avLst/>
            </a:prstGeom>
            <a:noFill/>
            <a:ln w="0">
              <a:noFill/>
            </a:ln>
          </p:spPr>
          <p:style>
            <a:lnRef idx="0"/>
            <a:fillRef idx="0"/>
            <a:effectRef idx="0"/>
            <a:fontRef idx="minor"/>
          </p:style>
          <p:txBody>
            <a:bodyPr lIns="0" rIns="0" tIns="0" bIns="0" anchor="t">
              <a:spAutoFit/>
            </a:bodyPr>
            <a:p>
              <a:pPr algn="just" defTabSz="914400">
                <a:lnSpc>
                  <a:spcPts val="3849"/>
                </a:lnSpc>
              </a:pPr>
              <a:r>
                <a:rPr b="0" lang="en-US" sz="2750" spc="-1" strike="noStrike">
                  <a:solidFill>
                    <a:srgbClr val="343434"/>
                  </a:solidFill>
                  <a:latin typeface="Poppins"/>
                  <a:ea typeface="Poppins"/>
                </a:rPr>
                <a:t>Bagaimana sistem ini dapat membantu meningkatkan efisiensi dan transparansi pengelolaan ruang kuliah di Universitas Pancasakti Tegal?</a:t>
              </a:r>
              <a:endParaRPr b="0" lang="id-ID" sz="2750" spc="-1" strike="noStrike">
                <a:solidFill>
                  <a:srgbClr val="000000"/>
                </a:solidFill>
                <a:latin typeface="Arial"/>
              </a:endParaRPr>
            </a:p>
            <a:p>
              <a:pPr algn="just" defTabSz="914400">
                <a:lnSpc>
                  <a:spcPts val="3849"/>
                </a:lnSpc>
              </a:pPr>
              <a:endParaRPr b="0" lang="id-ID" sz="2750" spc="-1" strike="noStrike">
                <a:solidFill>
                  <a:srgbClr val="000000"/>
                </a:solidFill>
                <a:latin typeface="Arial"/>
              </a:endParaRPr>
            </a:p>
          </p:txBody>
        </p:sp>
        <p:sp>
          <p:nvSpPr>
            <p:cNvPr id="123" name="TextBox 27"/>
            <p:cNvSpPr/>
            <p:nvPr/>
          </p:nvSpPr>
          <p:spPr>
            <a:xfrm>
              <a:off x="7432920" y="5355720"/>
              <a:ext cx="8473320" cy="488520"/>
            </a:xfrm>
            <a:prstGeom prst="rect">
              <a:avLst/>
            </a:prstGeom>
            <a:noFill/>
            <a:ln w="0">
              <a:noFill/>
            </a:ln>
          </p:spPr>
          <p:style>
            <a:lnRef idx="0"/>
            <a:fillRef idx="0"/>
            <a:effectRef idx="0"/>
            <a:fontRef idx="minor"/>
          </p:style>
          <p:txBody>
            <a:bodyPr lIns="0" rIns="0" tIns="0" bIns="0" anchor="t">
              <a:spAutoFit/>
            </a:bodyPr>
            <a:p>
              <a:pPr algn="just" defTabSz="914400">
                <a:lnSpc>
                  <a:spcPts val="3849"/>
                </a:lnSpc>
              </a:pPr>
              <a:r>
                <a:rPr b="1" lang="en-US" sz="2750" spc="-1" strike="noStrike">
                  <a:solidFill>
                    <a:srgbClr val="343434"/>
                  </a:solidFill>
                  <a:latin typeface="Coco Gothic Bold"/>
                  <a:ea typeface="Coco Gothic Bold"/>
                </a:rPr>
                <a:t>Rumusan Dua</a:t>
              </a:r>
              <a:endParaRPr b="0" lang="id-ID" sz="2750" spc="-1" strike="noStrike">
                <a:solidFill>
                  <a:srgbClr val="000000"/>
                </a:solidFill>
                <a:latin typeface="Arial"/>
              </a:endParaRPr>
            </a:p>
          </p:txBody>
        </p:sp>
      </p:grpSp>
      <p:sp>
        <p:nvSpPr>
          <p:cNvPr id="124" name="TextBox 28"/>
          <p:cNvSpPr/>
          <p:nvPr/>
        </p:nvSpPr>
        <p:spPr>
          <a:xfrm>
            <a:off x="5400720" y="5546160"/>
            <a:ext cx="2031120" cy="1290600"/>
          </a:xfrm>
          <a:prstGeom prst="rect">
            <a:avLst/>
          </a:prstGeom>
          <a:noFill/>
          <a:ln w="0">
            <a:noFill/>
          </a:ln>
        </p:spPr>
        <p:style>
          <a:lnRef idx="0"/>
          <a:fillRef idx="0"/>
          <a:effectRef idx="0"/>
          <a:fontRef idx="minor"/>
        </p:style>
        <p:txBody>
          <a:bodyPr lIns="0" rIns="0" tIns="0" bIns="0" anchor="t">
            <a:spAutoFit/>
          </a:bodyPr>
          <a:p>
            <a:pPr defTabSz="914400">
              <a:lnSpc>
                <a:spcPts val="10165"/>
              </a:lnSpc>
            </a:pPr>
            <a:r>
              <a:rPr b="1" lang="en-US" sz="7260" spc="-1" strike="noStrike">
                <a:solidFill>
                  <a:srgbClr val="343434"/>
                </a:solidFill>
                <a:latin typeface="Coco Gothic Heavy"/>
                <a:ea typeface="Coco Gothic Heavy"/>
              </a:rPr>
              <a:t>02.</a:t>
            </a:r>
            <a:endParaRPr b="0" lang="id-ID" sz="7260" spc="-1" strike="noStrike">
              <a:solidFill>
                <a:srgbClr val="000000"/>
              </a:solidFill>
              <a:latin typeface="Arial"/>
            </a:endParaRPr>
          </a:p>
        </p:txBody>
      </p:sp>
      <p:grpSp>
        <p:nvGrpSpPr>
          <p:cNvPr id="125" name="Group 29"/>
          <p:cNvGrpSpPr/>
          <p:nvPr/>
        </p:nvGrpSpPr>
        <p:grpSpPr>
          <a:xfrm>
            <a:off x="508320" y="361800"/>
            <a:ext cx="3364200" cy="972720"/>
            <a:chOff x="508320" y="361800"/>
            <a:chExt cx="3364200" cy="972720"/>
          </a:xfrm>
        </p:grpSpPr>
        <p:sp>
          <p:nvSpPr>
            <p:cNvPr id="126" name="Freeform 30"/>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27" name="TextBox 31"/>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128" name="TextBox 32"/>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9" name="Group 2"/>
          <p:cNvGrpSpPr/>
          <p:nvPr/>
        </p:nvGrpSpPr>
        <p:grpSpPr>
          <a:xfrm>
            <a:off x="-772920" y="9708480"/>
            <a:ext cx="19684800" cy="1142280"/>
            <a:chOff x="-772920" y="9708480"/>
            <a:chExt cx="19684800" cy="1142280"/>
          </a:xfrm>
        </p:grpSpPr>
        <p:sp>
          <p:nvSpPr>
            <p:cNvPr id="130" name="Freeform 3"/>
            <p:cNvSpPr/>
            <p:nvPr/>
          </p:nvSpPr>
          <p:spPr>
            <a:xfrm>
              <a:off x="-772920" y="9925200"/>
              <a:ext cx="19684800" cy="925200"/>
            </a:xfrm>
            <a:custGeom>
              <a:avLst/>
              <a:gdLst>
                <a:gd name="textAreaLeft" fmla="*/ 0 w 19684800"/>
                <a:gd name="textAreaRight" fmla="*/ 19685880 w 19684800"/>
                <a:gd name="textAreaTop" fmla="*/ 0 h 925200"/>
                <a:gd name="textAreaBottom" fmla="*/ 926280 h 925200"/>
              </a:gdLst>
              <a:ahLst/>
              <a:rect l="textAreaLeft" t="textAreaTop" r="textAreaRight" b="textAreaBottom"/>
              <a:pathLst>
                <a:path w="5184742" h="243975">
                  <a:moveTo>
                    <a:pt x="0" y="0"/>
                  </a:moveTo>
                  <a:lnTo>
                    <a:pt x="5184742" y="0"/>
                  </a:lnTo>
                  <a:lnTo>
                    <a:pt x="5184742" y="243975"/>
                  </a:lnTo>
                  <a:lnTo>
                    <a:pt x="0" y="243975"/>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131" name="TextBox 4"/>
            <p:cNvSpPr/>
            <p:nvPr/>
          </p:nvSpPr>
          <p:spPr>
            <a:xfrm>
              <a:off x="-772920" y="9708480"/>
              <a:ext cx="19684800" cy="1142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32" name="Group 5"/>
          <p:cNvGrpSpPr/>
          <p:nvPr/>
        </p:nvGrpSpPr>
        <p:grpSpPr>
          <a:xfrm>
            <a:off x="-698760" y="-640800"/>
            <a:ext cx="19684800" cy="1001520"/>
            <a:chOff x="-698760" y="-640800"/>
            <a:chExt cx="19684800" cy="1001520"/>
          </a:xfrm>
        </p:grpSpPr>
        <p:sp>
          <p:nvSpPr>
            <p:cNvPr id="133" name="Freeform 6"/>
            <p:cNvSpPr/>
            <p:nvPr/>
          </p:nvSpPr>
          <p:spPr>
            <a:xfrm>
              <a:off x="-698760" y="-424080"/>
              <a:ext cx="19684800" cy="784440"/>
            </a:xfrm>
            <a:custGeom>
              <a:avLst/>
              <a:gdLst>
                <a:gd name="textAreaLeft" fmla="*/ 0 w 19684800"/>
                <a:gd name="textAreaRight" fmla="*/ 19685880 w 19684800"/>
                <a:gd name="textAreaTop" fmla="*/ 0 h 784440"/>
                <a:gd name="textAreaBottom" fmla="*/ 785520 h 784440"/>
              </a:gdLst>
              <a:ahLst/>
              <a:rect l="textAreaLeft" t="textAreaTop" r="textAreaRight" b="textAreaBottom"/>
              <a:pathLst>
                <a:path w="5184742" h="206920">
                  <a:moveTo>
                    <a:pt x="0" y="0"/>
                  </a:moveTo>
                  <a:lnTo>
                    <a:pt x="5184742" y="0"/>
                  </a:lnTo>
                  <a:lnTo>
                    <a:pt x="5184742" y="206920"/>
                  </a:lnTo>
                  <a:lnTo>
                    <a:pt x="0" y="206920"/>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34" name="TextBox 7"/>
            <p:cNvSpPr/>
            <p:nvPr/>
          </p:nvSpPr>
          <p:spPr>
            <a:xfrm>
              <a:off x="-698760" y="-640800"/>
              <a:ext cx="19684800" cy="10015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35" name="Group 8"/>
          <p:cNvGrpSpPr/>
          <p:nvPr/>
        </p:nvGrpSpPr>
        <p:grpSpPr>
          <a:xfrm>
            <a:off x="5409720" y="1345320"/>
            <a:ext cx="12877200" cy="3994560"/>
            <a:chOff x="5409720" y="1345320"/>
            <a:chExt cx="12877200" cy="3994560"/>
          </a:xfrm>
        </p:grpSpPr>
        <p:sp>
          <p:nvSpPr>
            <p:cNvPr id="136" name="Freeform 9"/>
            <p:cNvSpPr/>
            <p:nvPr/>
          </p:nvSpPr>
          <p:spPr>
            <a:xfrm>
              <a:off x="5409720" y="1613880"/>
              <a:ext cx="12877200" cy="3726000"/>
            </a:xfrm>
            <a:custGeom>
              <a:avLst/>
              <a:gdLst>
                <a:gd name="textAreaLeft" fmla="*/ 0 w 12877200"/>
                <a:gd name="textAreaRight" fmla="*/ 12878280 w 12877200"/>
                <a:gd name="textAreaTop" fmla="*/ 0 h 3726000"/>
                <a:gd name="textAreaBottom" fmla="*/ 3727080 h 3726000"/>
              </a:gdLst>
              <a:ahLst/>
              <a:rect l="textAreaLeft" t="textAreaTop" r="textAreaRight" b="textAreaBottom"/>
              <a:pathLst>
                <a:path w="2741556" h="793436">
                  <a:moveTo>
                    <a:pt x="0" y="0"/>
                  </a:moveTo>
                  <a:lnTo>
                    <a:pt x="2741556" y="0"/>
                  </a:lnTo>
                  <a:lnTo>
                    <a:pt x="2741556" y="793436"/>
                  </a:lnTo>
                  <a:lnTo>
                    <a:pt x="0" y="793436"/>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37" name="TextBox 10"/>
            <p:cNvSpPr/>
            <p:nvPr/>
          </p:nvSpPr>
          <p:spPr>
            <a:xfrm>
              <a:off x="5409720" y="1345320"/>
              <a:ext cx="12877200" cy="39945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38" name="Group 11"/>
          <p:cNvGrpSpPr/>
          <p:nvPr/>
        </p:nvGrpSpPr>
        <p:grpSpPr>
          <a:xfrm>
            <a:off x="14007960" y="9253080"/>
            <a:ext cx="3244320" cy="444240"/>
            <a:chOff x="14007960" y="9253080"/>
            <a:chExt cx="3244320" cy="444240"/>
          </a:xfrm>
        </p:grpSpPr>
        <p:sp>
          <p:nvSpPr>
            <p:cNvPr id="139" name="TextBox 12"/>
            <p:cNvSpPr/>
            <p:nvPr/>
          </p:nvSpPr>
          <p:spPr>
            <a:xfrm>
              <a:off x="14007960" y="931824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343434"/>
                  </a:solidFill>
                  <a:latin typeface="Coco Gothic Heavy"/>
                  <a:ea typeface="Coco Gothic Heavy"/>
                </a:rPr>
                <a:t>SEMINAR PROPOSAL</a:t>
              </a:r>
              <a:endParaRPr b="0" lang="id-ID" sz="1729" spc="-1" strike="noStrike">
                <a:solidFill>
                  <a:srgbClr val="000000"/>
                </a:solidFill>
                <a:latin typeface="Arial"/>
              </a:endParaRPr>
            </a:p>
          </p:txBody>
        </p:sp>
        <p:sp>
          <p:nvSpPr>
            <p:cNvPr id="140" name="TextBox 13"/>
            <p:cNvSpPr/>
            <p:nvPr/>
          </p:nvSpPr>
          <p:spPr>
            <a:xfrm>
              <a:off x="16656120" y="925308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343434"/>
                  </a:solidFill>
                  <a:latin typeface="Coco Gothic Heavy"/>
                  <a:ea typeface="Coco Gothic Heavy"/>
                </a:rPr>
                <a:t>03</a:t>
              </a:r>
              <a:endParaRPr b="0" lang="id-ID" sz="2500" spc="-1" strike="noStrike">
                <a:solidFill>
                  <a:srgbClr val="000000"/>
                </a:solidFill>
                <a:latin typeface="Arial"/>
              </a:endParaRPr>
            </a:p>
          </p:txBody>
        </p:sp>
        <p:sp>
          <p:nvSpPr>
            <p:cNvPr id="141" name="AutoShape 14"/>
            <p:cNvSpPr/>
            <p:nvPr/>
          </p:nvSpPr>
          <p:spPr>
            <a:xfrm>
              <a:off x="16627680" y="9318240"/>
              <a:ext cx="360" cy="304200"/>
            </a:xfrm>
            <a:prstGeom prst="line">
              <a:avLst/>
            </a:prstGeom>
            <a:ln w="50800">
              <a:solidFill>
                <a:srgbClr val="dcd0c0"/>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142" name="TextBox 15"/>
          <p:cNvSpPr/>
          <p:nvPr/>
        </p:nvSpPr>
        <p:spPr>
          <a:xfrm>
            <a:off x="7684560" y="1837800"/>
            <a:ext cx="10227240" cy="2689200"/>
          </a:xfrm>
          <a:prstGeom prst="rect">
            <a:avLst/>
          </a:prstGeom>
          <a:noFill/>
          <a:ln w="0">
            <a:noFill/>
          </a:ln>
        </p:spPr>
        <p:style>
          <a:lnRef idx="0"/>
          <a:fillRef idx="0"/>
          <a:effectRef idx="0"/>
          <a:fontRef idx="minor"/>
        </p:style>
        <p:txBody>
          <a:bodyPr lIns="0" rIns="0" tIns="0" bIns="0" anchor="t">
            <a:spAutoFit/>
          </a:bodyPr>
          <a:p>
            <a:pPr algn="just" defTabSz="914400">
              <a:lnSpc>
                <a:spcPts val="3529"/>
              </a:lnSpc>
            </a:pPr>
            <a:r>
              <a:rPr b="0" lang="en-US" sz="2520" spc="-1" strike="noStrike">
                <a:solidFill>
                  <a:srgbClr val="343434"/>
                </a:solidFill>
                <a:latin typeface="Poppins"/>
                <a:ea typeface="Poppins"/>
              </a:rPr>
              <a:t>Penelitian ini difokuskan pada perancangan dan pembangunan sistem monitoring okupansi ruangan berbasis mikrokontroler ESP32 yang terintegrasi dengan Firebase Realtime Database dan web dashboard, untuk menampilkan status penggunaan ruang serta memberikan notifikasi secara real-time sebagai penerapan konsep Internet of Things (IoT).</a:t>
            </a:r>
            <a:endParaRPr b="0" lang="id-ID" sz="2520" spc="-1" strike="noStrike">
              <a:solidFill>
                <a:srgbClr val="000000"/>
              </a:solidFill>
              <a:latin typeface="Arial"/>
            </a:endParaRPr>
          </a:p>
        </p:txBody>
      </p:sp>
      <p:sp>
        <p:nvSpPr>
          <p:cNvPr id="143" name="Freeform 17"/>
          <p:cNvSpPr/>
          <p:nvPr/>
        </p:nvSpPr>
        <p:spPr>
          <a:xfrm>
            <a:off x="-216720" y="7542000"/>
            <a:ext cx="2556360" cy="2290680"/>
          </a:xfrm>
          <a:custGeom>
            <a:avLst/>
            <a:gdLst>
              <a:gd name="textAreaLeft" fmla="*/ 0 w 2556360"/>
              <a:gd name="textAreaRight" fmla="*/ 2557080 w 2556360"/>
              <a:gd name="textAreaTop" fmla="*/ 0 h 2290680"/>
              <a:gd name="textAreaBottom" fmla="*/ 2291400 h 2290680"/>
            </a:gdLst>
            <a:ahLst/>
            <a:rect l="textAreaLeft" t="textAreaTop" r="textAreaRight" b="textAreaBottom"/>
            <a:pathLst>
              <a:path w="4090403" h="3665602">
                <a:moveTo>
                  <a:pt x="0" y="0"/>
                </a:moveTo>
                <a:lnTo>
                  <a:pt x="4090403" y="0"/>
                </a:lnTo>
                <a:lnTo>
                  <a:pt x="4090403" y="3665602"/>
                </a:lnTo>
                <a:lnTo>
                  <a:pt x="0" y="366560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44" name="TextBox 18"/>
          <p:cNvSpPr/>
          <p:nvPr/>
        </p:nvSpPr>
        <p:spPr>
          <a:xfrm>
            <a:off x="404640" y="1870200"/>
            <a:ext cx="5167440" cy="1691640"/>
          </a:xfrm>
          <a:prstGeom prst="rect">
            <a:avLst/>
          </a:prstGeom>
          <a:noFill/>
          <a:ln w="0">
            <a:noFill/>
          </a:ln>
        </p:spPr>
        <p:style>
          <a:lnRef idx="0"/>
          <a:fillRef idx="0"/>
          <a:effectRef idx="0"/>
          <a:fontRef idx="minor"/>
        </p:style>
        <p:txBody>
          <a:bodyPr lIns="0" rIns="0" tIns="0" bIns="0" anchor="t">
            <a:spAutoFit/>
          </a:bodyPr>
          <a:p>
            <a:pPr defTabSz="914400">
              <a:lnSpc>
                <a:spcPts val="6661"/>
              </a:lnSpc>
            </a:pPr>
            <a:r>
              <a:rPr b="1" lang="en-US" sz="6000" spc="-1" strike="noStrike">
                <a:solidFill>
                  <a:srgbClr val="343434"/>
                </a:solidFill>
                <a:latin typeface="Coco Gothic Heavy"/>
                <a:ea typeface="Coco Gothic Heavy"/>
              </a:rPr>
              <a:t>BATASAN MASALAH</a:t>
            </a:r>
            <a:endParaRPr b="0" lang="id-ID" sz="6000" spc="-1" strike="noStrike">
              <a:solidFill>
                <a:srgbClr val="000000"/>
              </a:solidFill>
              <a:latin typeface="Arial"/>
            </a:endParaRPr>
          </a:p>
        </p:txBody>
      </p:sp>
      <p:sp>
        <p:nvSpPr>
          <p:cNvPr id="145" name="TextBox 19"/>
          <p:cNvSpPr/>
          <p:nvPr/>
        </p:nvSpPr>
        <p:spPr>
          <a:xfrm>
            <a:off x="5699520" y="2100240"/>
            <a:ext cx="1650960" cy="1184400"/>
          </a:xfrm>
          <a:prstGeom prst="rect">
            <a:avLst/>
          </a:prstGeom>
          <a:noFill/>
          <a:ln w="0">
            <a:noFill/>
          </a:ln>
        </p:spPr>
        <p:style>
          <a:lnRef idx="0"/>
          <a:fillRef idx="0"/>
          <a:effectRef idx="0"/>
          <a:fontRef idx="minor"/>
        </p:style>
        <p:txBody>
          <a:bodyPr lIns="0" rIns="0" tIns="0" bIns="0" anchor="t">
            <a:spAutoFit/>
          </a:bodyPr>
          <a:p>
            <a:pPr defTabSz="914400">
              <a:lnSpc>
                <a:spcPts val="9326"/>
              </a:lnSpc>
            </a:pPr>
            <a:r>
              <a:rPr b="1" lang="en-US" sz="6660" spc="-1" strike="noStrike">
                <a:solidFill>
                  <a:srgbClr val="343434"/>
                </a:solidFill>
                <a:latin typeface="Coco Gothic Heavy"/>
                <a:ea typeface="Coco Gothic Heavy"/>
              </a:rPr>
              <a:t>01.</a:t>
            </a:r>
            <a:endParaRPr b="0" lang="id-ID" sz="6660" spc="-1" strike="noStrike">
              <a:solidFill>
                <a:srgbClr val="000000"/>
              </a:solidFill>
              <a:latin typeface="Arial"/>
            </a:endParaRPr>
          </a:p>
        </p:txBody>
      </p:sp>
      <p:grpSp>
        <p:nvGrpSpPr>
          <p:cNvPr id="146" name="Group 20"/>
          <p:cNvGrpSpPr/>
          <p:nvPr/>
        </p:nvGrpSpPr>
        <p:grpSpPr>
          <a:xfrm>
            <a:off x="5409720" y="4872240"/>
            <a:ext cx="12877200" cy="3488400"/>
            <a:chOff x="5409720" y="4872240"/>
            <a:chExt cx="12877200" cy="3488400"/>
          </a:xfrm>
        </p:grpSpPr>
        <p:sp>
          <p:nvSpPr>
            <p:cNvPr id="147" name="Freeform 21"/>
            <p:cNvSpPr/>
            <p:nvPr/>
          </p:nvSpPr>
          <p:spPr>
            <a:xfrm>
              <a:off x="5409720" y="5140800"/>
              <a:ext cx="12877200" cy="3219840"/>
            </a:xfrm>
            <a:custGeom>
              <a:avLst/>
              <a:gdLst>
                <a:gd name="textAreaLeft" fmla="*/ 0 w 12877200"/>
                <a:gd name="textAreaRight" fmla="*/ 12878280 w 12877200"/>
                <a:gd name="textAreaTop" fmla="*/ 0 h 3219840"/>
                <a:gd name="textAreaBottom" fmla="*/ 3220920 h 3219840"/>
              </a:gdLst>
              <a:ahLst/>
              <a:rect l="textAreaLeft" t="textAreaTop" r="textAreaRight" b="textAreaBottom"/>
              <a:pathLst>
                <a:path w="2741556" h="685695">
                  <a:moveTo>
                    <a:pt x="0" y="0"/>
                  </a:moveTo>
                  <a:lnTo>
                    <a:pt x="2741556" y="0"/>
                  </a:lnTo>
                  <a:lnTo>
                    <a:pt x="2741556" y="685695"/>
                  </a:lnTo>
                  <a:lnTo>
                    <a:pt x="0" y="685695"/>
                  </a:lnTo>
                  <a:close/>
                </a:path>
              </a:pathLst>
            </a:cu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48" name="TextBox 22"/>
            <p:cNvSpPr/>
            <p:nvPr/>
          </p:nvSpPr>
          <p:spPr>
            <a:xfrm>
              <a:off x="5409720" y="4872240"/>
              <a:ext cx="12877200" cy="34884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49" name="Group 7"/>
          <p:cNvGrpSpPr/>
          <p:nvPr/>
        </p:nvGrpSpPr>
        <p:grpSpPr>
          <a:xfrm>
            <a:off x="5409720" y="5005080"/>
            <a:ext cx="12877200" cy="3994560"/>
            <a:chOff x="5409720" y="5005080"/>
            <a:chExt cx="12877200" cy="3994560"/>
          </a:xfrm>
        </p:grpSpPr>
        <p:sp>
          <p:nvSpPr>
            <p:cNvPr id="150" name="Freeform 14"/>
            <p:cNvSpPr/>
            <p:nvPr/>
          </p:nvSpPr>
          <p:spPr>
            <a:xfrm>
              <a:off x="5409720" y="5273640"/>
              <a:ext cx="12877200" cy="3726000"/>
            </a:xfrm>
            <a:custGeom>
              <a:avLst/>
              <a:gdLst>
                <a:gd name="textAreaLeft" fmla="*/ 0 w 12877200"/>
                <a:gd name="textAreaRight" fmla="*/ 12878280 w 12877200"/>
                <a:gd name="textAreaTop" fmla="*/ 0 h 3726000"/>
                <a:gd name="textAreaBottom" fmla="*/ 3727080 h 3726000"/>
              </a:gdLst>
              <a:ahLst/>
              <a:rect l="textAreaLeft" t="textAreaTop" r="textAreaRight" b="textAreaBottom"/>
              <a:pathLst>
                <a:path w="2741556" h="793436">
                  <a:moveTo>
                    <a:pt x="0" y="0"/>
                  </a:moveTo>
                  <a:lnTo>
                    <a:pt x="2741556" y="0"/>
                  </a:lnTo>
                  <a:lnTo>
                    <a:pt x="2741556" y="793436"/>
                  </a:lnTo>
                  <a:lnTo>
                    <a:pt x="0" y="793436"/>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51" name="TextBox 3"/>
            <p:cNvSpPr/>
            <p:nvPr/>
          </p:nvSpPr>
          <p:spPr>
            <a:xfrm>
              <a:off x="5409720" y="5005080"/>
              <a:ext cx="12877200" cy="399456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sp>
        <p:nvSpPr>
          <p:cNvPr id="152" name="TextBox 23"/>
          <p:cNvSpPr/>
          <p:nvPr/>
        </p:nvSpPr>
        <p:spPr>
          <a:xfrm>
            <a:off x="5699520" y="5474520"/>
            <a:ext cx="1983960" cy="1184400"/>
          </a:xfrm>
          <a:prstGeom prst="rect">
            <a:avLst/>
          </a:prstGeom>
          <a:noFill/>
          <a:ln w="0">
            <a:noFill/>
          </a:ln>
        </p:spPr>
        <p:style>
          <a:lnRef idx="0"/>
          <a:fillRef idx="0"/>
          <a:effectRef idx="0"/>
          <a:fontRef idx="minor"/>
        </p:style>
        <p:txBody>
          <a:bodyPr lIns="0" rIns="0" tIns="0" bIns="0" anchor="t">
            <a:spAutoFit/>
          </a:bodyPr>
          <a:p>
            <a:pPr defTabSz="914400">
              <a:lnSpc>
                <a:spcPts val="9326"/>
              </a:lnSpc>
            </a:pPr>
            <a:r>
              <a:rPr b="1" lang="en-US" sz="6660" spc="-1" strike="noStrike">
                <a:solidFill>
                  <a:srgbClr val="343434"/>
                </a:solidFill>
                <a:latin typeface="Coco Gothic Heavy"/>
                <a:ea typeface="Coco Gothic Heavy"/>
              </a:rPr>
              <a:t>02.</a:t>
            </a:r>
            <a:endParaRPr b="0" lang="id-ID" sz="6660" spc="-1" strike="noStrike">
              <a:solidFill>
                <a:srgbClr val="000000"/>
              </a:solidFill>
              <a:latin typeface="Arial"/>
            </a:endParaRPr>
          </a:p>
        </p:txBody>
      </p:sp>
      <p:grpSp>
        <p:nvGrpSpPr>
          <p:cNvPr id="153" name="Group 24"/>
          <p:cNvGrpSpPr/>
          <p:nvPr/>
        </p:nvGrpSpPr>
        <p:grpSpPr>
          <a:xfrm>
            <a:off x="404640" y="541800"/>
            <a:ext cx="3364200" cy="972720"/>
            <a:chOff x="404640" y="541800"/>
            <a:chExt cx="3364200" cy="972720"/>
          </a:xfrm>
        </p:grpSpPr>
        <p:sp>
          <p:nvSpPr>
            <p:cNvPr id="154" name="Freeform 25"/>
            <p:cNvSpPr/>
            <p:nvPr/>
          </p:nvSpPr>
          <p:spPr>
            <a:xfrm>
              <a:off x="404640" y="54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55" name="TextBox 26"/>
            <p:cNvSpPr/>
            <p:nvPr/>
          </p:nvSpPr>
          <p:spPr>
            <a:xfrm>
              <a:off x="1662840" y="73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156" name="TextBox 27"/>
            <p:cNvSpPr/>
            <p:nvPr/>
          </p:nvSpPr>
          <p:spPr>
            <a:xfrm>
              <a:off x="1298520" y="103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
        <p:nvSpPr>
          <p:cNvPr id="157" name="TextBox 28"/>
          <p:cNvSpPr/>
          <p:nvPr/>
        </p:nvSpPr>
        <p:spPr>
          <a:xfrm>
            <a:off x="7684560" y="5475600"/>
            <a:ext cx="10227240" cy="2689200"/>
          </a:xfrm>
          <a:prstGeom prst="rect">
            <a:avLst/>
          </a:prstGeom>
          <a:noFill/>
          <a:ln w="0">
            <a:noFill/>
          </a:ln>
        </p:spPr>
        <p:style>
          <a:lnRef idx="0"/>
          <a:fillRef idx="0"/>
          <a:effectRef idx="0"/>
          <a:fontRef idx="minor"/>
        </p:style>
        <p:txBody>
          <a:bodyPr lIns="0" rIns="0" tIns="0" bIns="0" anchor="t">
            <a:spAutoFit/>
          </a:bodyPr>
          <a:p>
            <a:pPr algn="just" defTabSz="914400">
              <a:lnSpc>
                <a:spcPts val="3529"/>
              </a:lnSpc>
            </a:pPr>
            <a:r>
              <a:rPr b="0" lang="en-US" sz="2520" spc="-1" strike="noStrike">
                <a:solidFill>
                  <a:srgbClr val="343434"/>
                </a:solidFill>
                <a:latin typeface="Poppins"/>
                <a:ea typeface="Poppins"/>
              </a:rPr>
              <a:t>Penelitian ini juga dibatasi pada analisis penerapan sistem dalam membantu meningkatkan efisiensi dan transparansi pengelolaan ruang kuliah di Universitas Pancasakti Tegal, tanpa membahas secara mendalam aspek manajemen jadwal kuliah, infrastruktur jaringan, maupun efisiensi administratif kampus secara keseluruhan</a:t>
            </a:r>
            <a:endParaRPr b="0" lang="id-ID" sz="25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8" name="Group 2"/>
          <p:cNvGrpSpPr/>
          <p:nvPr/>
        </p:nvGrpSpPr>
        <p:grpSpPr>
          <a:xfrm>
            <a:off x="-772920" y="9708480"/>
            <a:ext cx="19684800" cy="1017000"/>
            <a:chOff x="-772920" y="9708480"/>
            <a:chExt cx="19684800" cy="1017000"/>
          </a:xfrm>
        </p:grpSpPr>
        <p:sp>
          <p:nvSpPr>
            <p:cNvPr id="159" name="Freeform 3"/>
            <p:cNvSpPr/>
            <p:nvPr/>
          </p:nvSpPr>
          <p:spPr>
            <a:xfrm>
              <a:off x="-772920" y="9925200"/>
              <a:ext cx="19684800" cy="799920"/>
            </a:xfrm>
            <a:custGeom>
              <a:avLst/>
              <a:gdLst>
                <a:gd name="textAreaLeft" fmla="*/ 0 w 19684800"/>
                <a:gd name="textAreaRight" fmla="*/ 19685880 w 19684800"/>
                <a:gd name="textAreaTop" fmla="*/ 0 h 799920"/>
                <a:gd name="textAreaBottom" fmla="*/ 801000 h 799920"/>
              </a:gdLst>
              <a:ahLst/>
              <a:rect l="textAreaLeft" t="textAreaTop" r="textAreaRight" b="textAreaBottom"/>
              <a:pathLst>
                <a:path w="5184742" h="210941">
                  <a:moveTo>
                    <a:pt x="0" y="0"/>
                  </a:moveTo>
                  <a:lnTo>
                    <a:pt x="5184742" y="0"/>
                  </a:lnTo>
                  <a:lnTo>
                    <a:pt x="5184742" y="210941"/>
                  </a:lnTo>
                  <a:lnTo>
                    <a:pt x="0" y="210941"/>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160" name="TextBox 4"/>
            <p:cNvSpPr/>
            <p:nvPr/>
          </p:nvSpPr>
          <p:spPr>
            <a:xfrm>
              <a:off x="-772920" y="9708480"/>
              <a:ext cx="19684800" cy="10170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61" name="Group 5"/>
          <p:cNvGrpSpPr/>
          <p:nvPr/>
        </p:nvGrpSpPr>
        <p:grpSpPr>
          <a:xfrm>
            <a:off x="-698760" y="-807120"/>
            <a:ext cx="19684800" cy="1167840"/>
            <a:chOff x="-698760" y="-807120"/>
            <a:chExt cx="19684800" cy="1167840"/>
          </a:xfrm>
        </p:grpSpPr>
        <p:sp>
          <p:nvSpPr>
            <p:cNvPr id="162" name="Freeform 6"/>
            <p:cNvSpPr/>
            <p:nvPr/>
          </p:nvSpPr>
          <p:spPr>
            <a:xfrm>
              <a:off x="-698760" y="-590400"/>
              <a:ext cx="19684800" cy="950760"/>
            </a:xfrm>
            <a:custGeom>
              <a:avLst/>
              <a:gdLst>
                <a:gd name="textAreaLeft" fmla="*/ 0 w 19684800"/>
                <a:gd name="textAreaRight" fmla="*/ 19685880 w 19684800"/>
                <a:gd name="textAreaTop" fmla="*/ 0 h 950760"/>
                <a:gd name="textAreaBottom" fmla="*/ 951840 h 950760"/>
              </a:gdLst>
              <a:ahLst/>
              <a:rect l="textAreaLeft" t="textAreaTop" r="textAreaRight" b="textAreaBottom"/>
              <a:pathLst>
                <a:path w="5184742" h="250718">
                  <a:moveTo>
                    <a:pt x="0" y="0"/>
                  </a:moveTo>
                  <a:lnTo>
                    <a:pt x="5184742" y="0"/>
                  </a:lnTo>
                  <a:lnTo>
                    <a:pt x="5184742" y="250718"/>
                  </a:lnTo>
                  <a:lnTo>
                    <a:pt x="0" y="250718"/>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63" name="TextBox 7"/>
            <p:cNvSpPr/>
            <p:nvPr/>
          </p:nvSpPr>
          <p:spPr>
            <a:xfrm>
              <a:off x="-698760" y="-807120"/>
              <a:ext cx="19684800" cy="1167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64" name="Group 8"/>
          <p:cNvGrpSpPr/>
          <p:nvPr/>
        </p:nvGrpSpPr>
        <p:grpSpPr>
          <a:xfrm>
            <a:off x="1260000" y="3214440"/>
            <a:ext cx="7809120" cy="5915160"/>
            <a:chOff x="1260000" y="3214440"/>
            <a:chExt cx="7809120" cy="5915160"/>
          </a:xfrm>
        </p:grpSpPr>
        <p:sp>
          <p:nvSpPr>
            <p:cNvPr id="165" name="Freeform 9"/>
            <p:cNvSpPr/>
            <p:nvPr/>
          </p:nvSpPr>
          <p:spPr>
            <a:xfrm>
              <a:off x="1260000" y="3431160"/>
              <a:ext cx="7809120" cy="5698080"/>
            </a:xfrm>
            <a:custGeom>
              <a:avLst/>
              <a:gdLst>
                <a:gd name="textAreaLeft" fmla="*/ 0 w 7809120"/>
                <a:gd name="textAreaRight" fmla="*/ 7810200 w 7809120"/>
                <a:gd name="textAreaTop" fmla="*/ 0 h 5698080"/>
                <a:gd name="textAreaBottom" fmla="*/ 5699160 h 5698080"/>
              </a:gdLst>
              <a:ahLst/>
              <a:rect l="textAreaLeft" t="textAreaTop" r="textAreaRight" b="textAreaBottom"/>
              <a:pathLst>
                <a:path w="1907279" h="1501002">
                  <a:moveTo>
                    <a:pt x="0" y="0"/>
                  </a:moveTo>
                  <a:lnTo>
                    <a:pt x="1907279" y="0"/>
                  </a:lnTo>
                  <a:lnTo>
                    <a:pt x="1907279" y="1501002"/>
                  </a:lnTo>
                  <a:lnTo>
                    <a:pt x="0" y="150100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66" name="TextBox 10"/>
            <p:cNvSpPr/>
            <p:nvPr/>
          </p:nvSpPr>
          <p:spPr>
            <a:xfrm>
              <a:off x="1260000" y="3214440"/>
              <a:ext cx="7809120" cy="5915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67" name="Group 11"/>
          <p:cNvGrpSpPr/>
          <p:nvPr/>
        </p:nvGrpSpPr>
        <p:grpSpPr>
          <a:xfrm>
            <a:off x="14007960" y="9253080"/>
            <a:ext cx="3244320" cy="444240"/>
            <a:chOff x="14007960" y="9253080"/>
            <a:chExt cx="3244320" cy="444240"/>
          </a:xfrm>
        </p:grpSpPr>
        <p:sp>
          <p:nvSpPr>
            <p:cNvPr id="168" name="TextBox 12"/>
            <p:cNvSpPr/>
            <p:nvPr/>
          </p:nvSpPr>
          <p:spPr>
            <a:xfrm>
              <a:off x="14007960" y="931824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343434"/>
                  </a:solidFill>
                  <a:latin typeface="Coco Gothic Heavy"/>
                  <a:ea typeface="Coco Gothic Heavy"/>
                </a:rPr>
                <a:t>SEMINAR PROPOSAL</a:t>
              </a:r>
              <a:endParaRPr b="0" lang="id-ID" sz="1729" spc="-1" strike="noStrike">
                <a:solidFill>
                  <a:srgbClr val="000000"/>
                </a:solidFill>
                <a:latin typeface="Arial"/>
              </a:endParaRPr>
            </a:p>
          </p:txBody>
        </p:sp>
        <p:sp>
          <p:nvSpPr>
            <p:cNvPr id="169" name="TextBox 13"/>
            <p:cNvSpPr/>
            <p:nvPr/>
          </p:nvSpPr>
          <p:spPr>
            <a:xfrm>
              <a:off x="16656120" y="925308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343434"/>
                  </a:solidFill>
                  <a:latin typeface="Coco Gothic Heavy"/>
                  <a:ea typeface="Coco Gothic Heavy"/>
                </a:rPr>
                <a:t>04</a:t>
              </a:r>
              <a:endParaRPr b="0" lang="id-ID" sz="2500" spc="-1" strike="noStrike">
                <a:solidFill>
                  <a:srgbClr val="000000"/>
                </a:solidFill>
                <a:latin typeface="Arial"/>
              </a:endParaRPr>
            </a:p>
          </p:txBody>
        </p:sp>
        <p:sp>
          <p:nvSpPr>
            <p:cNvPr id="170" name="AutoShape 14"/>
            <p:cNvSpPr/>
            <p:nvPr/>
          </p:nvSpPr>
          <p:spPr>
            <a:xfrm>
              <a:off x="16627680" y="9318240"/>
              <a:ext cx="360" cy="304200"/>
            </a:xfrm>
            <a:prstGeom prst="line">
              <a:avLst/>
            </a:prstGeom>
            <a:ln w="50800">
              <a:solidFill>
                <a:srgbClr val="dcd0c0"/>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171" name="Freeform 15"/>
          <p:cNvSpPr/>
          <p:nvPr/>
        </p:nvSpPr>
        <p:spPr>
          <a:xfrm>
            <a:off x="15630480" y="770760"/>
            <a:ext cx="2336040" cy="2336040"/>
          </a:xfrm>
          <a:custGeom>
            <a:avLst/>
            <a:gdLst>
              <a:gd name="textAreaLeft" fmla="*/ 0 w 2336040"/>
              <a:gd name="textAreaRight" fmla="*/ 2337120 w 2336040"/>
              <a:gd name="textAreaTop" fmla="*/ 0 h 2336040"/>
              <a:gd name="textAreaBottom" fmla="*/ 2337120 h 2336040"/>
            </a:gdLst>
            <a:ahLst/>
            <a:rect l="textAreaLeft" t="textAreaTop" r="textAreaRight" b="textAreaBottom"/>
            <a:pathLst>
              <a:path w="2337018" h="2337018">
                <a:moveTo>
                  <a:pt x="0" y="0"/>
                </a:moveTo>
                <a:lnTo>
                  <a:pt x="2337018" y="0"/>
                </a:lnTo>
                <a:lnTo>
                  <a:pt x="2337018" y="2337018"/>
                </a:lnTo>
                <a:lnTo>
                  <a:pt x="0" y="233701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72" name="TextBox 16"/>
          <p:cNvSpPr/>
          <p:nvPr/>
        </p:nvSpPr>
        <p:spPr>
          <a:xfrm>
            <a:off x="2552400" y="1743480"/>
            <a:ext cx="1307700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TUJUAN PENELITIAN</a:t>
            </a:r>
            <a:endParaRPr b="0" lang="id-ID" sz="6000" spc="-1" strike="noStrike">
              <a:solidFill>
                <a:srgbClr val="000000"/>
              </a:solidFill>
              <a:latin typeface="Arial"/>
            </a:endParaRPr>
          </a:p>
        </p:txBody>
      </p:sp>
      <p:sp>
        <p:nvSpPr>
          <p:cNvPr id="173" name="TextBox 17"/>
          <p:cNvSpPr/>
          <p:nvPr/>
        </p:nvSpPr>
        <p:spPr>
          <a:xfrm>
            <a:off x="1680120" y="3513600"/>
            <a:ext cx="1334520" cy="1018800"/>
          </a:xfrm>
          <a:prstGeom prst="rect">
            <a:avLst/>
          </a:prstGeom>
          <a:noFill/>
          <a:ln w="0">
            <a:noFill/>
          </a:ln>
        </p:spPr>
        <p:style>
          <a:lnRef idx="0"/>
          <a:fillRef idx="0"/>
          <a:effectRef idx="0"/>
          <a:fontRef idx="minor"/>
        </p:style>
        <p:txBody>
          <a:bodyPr lIns="0" rIns="0" tIns="0" bIns="0" anchor="t">
            <a:spAutoFit/>
          </a:bodyPr>
          <a:p>
            <a:pPr defTabSz="914400">
              <a:lnSpc>
                <a:spcPts val="8025"/>
              </a:lnSpc>
            </a:pPr>
            <a:r>
              <a:rPr b="1" lang="en-US" sz="5730" spc="-1" strike="noStrike">
                <a:solidFill>
                  <a:srgbClr val="343434"/>
                </a:solidFill>
                <a:latin typeface="Coco Gothic Heavy"/>
                <a:ea typeface="Coco Gothic Heavy"/>
              </a:rPr>
              <a:t>01.</a:t>
            </a:r>
            <a:endParaRPr b="0" lang="id-ID" sz="5730" spc="-1" strike="noStrike">
              <a:solidFill>
                <a:srgbClr val="000000"/>
              </a:solidFill>
              <a:latin typeface="Arial"/>
            </a:endParaRPr>
          </a:p>
        </p:txBody>
      </p:sp>
      <p:sp>
        <p:nvSpPr>
          <p:cNvPr id="174" name="TextBox 18"/>
          <p:cNvSpPr/>
          <p:nvPr/>
        </p:nvSpPr>
        <p:spPr>
          <a:xfrm>
            <a:off x="1620000" y="4566240"/>
            <a:ext cx="7728480" cy="2993040"/>
          </a:xfrm>
          <a:prstGeom prst="rect">
            <a:avLst/>
          </a:prstGeom>
          <a:noFill/>
          <a:ln w="0">
            <a:noFill/>
          </a:ln>
        </p:spPr>
        <p:style>
          <a:lnRef idx="0"/>
          <a:fillRef idx="0"/>
          <a:effectRef idx="0"/>
          <a:fontRef idx="minor"/>
        </p:style>
        <p:txBody>
          <a:bodyPr lIns="0" rIns="0" tIns="0" bIns="0" anchor="t">
            <a:spAutoFit/>
          </a:bodyPr>
          <a:p>
            <a:pPr defTabSz="914400">
              <a:lnSpc>
                <a:spcPts val="4714"/>
              </a:lnSpc>
            </a:pPr>
            <a:r>
              <a:rPr b="0" lang="en-US" sz="3200" spc="-1" strike="noStrike">
                <a:solidFill>
                  <a:srgbClr val="343434"/>
                </a:solidFill>
                <a:latin typeface="Poppins"/>
                <a:ea typeface="Poppins"/>
              </a:rPr>
              <a:t>Untuk merancang dan membangun sistem monitoring okupansi ruangan berbasis mikrokontroler ESP32 yang terintegrasi dengan Firebase Realtime Database dan web dashboard</a:t>
            </a:r>
            <a:endParaRPr b="0" lang="id-ID" sz="3200" spc="-1" strike="noStrike">
              <a:solidFill>
                <a:srgbClr val="000000"/>
              </a:solidFill>
              <a:latin typeface="Arial"/>
            </a:endParaRPr>
          </a:p>
        </p:txBody>
      </p:sp>
      <p:grpSp>
        <p:nvGrpSpPr>
          <p:cNvPr id="175" name="Group 19"/>
          <p:cNvGrpSpPr/>
          <p:nvPr/>
        </p:nvGrpSpPr>
        <p:grpSpPr>
          <a:xfrm>
            <a:off x="9070200" y="3214440"/>
            <a:ext cx="7240680" cy="5915160"/>
            <a:chOff x="9070200" y="3214440"/>
            <a:chExt cx="7240680" cy="5915160"/>
          </a:xfrm>
        </p:grpSpPr>
        <p:sp>
          <p:nvSpPr>
            <p:cNvPr id="176" name="Freeform 20"/>
            <p:cNvSpPr/>
            <p:nvPr/>
          </p:nvSpPr>
          <p:spPr>
            <a:xfrm>
              <a:off x="9070200" y="3431160"/>
              <a:ext cx="7240680" cy="5698080"/>
            </a:xfrm>
            <a:custGeom>
              <a:avLst/>
              <a:gdLst>
                <a:gd name="textAreaLeft" fmla="*/ 0 w 7240680"/>
                <a:gd name="textAreaRight" fmla="*/ 7241760 w 7240680"/>
                <a:gd name="textAreaTop" fmla="*/ 0 h 5698080"/>
                <a:gd name="textAreaBottom" fmla="*/ 5699160 h 5698080"/>
              </a:gdLst>
              <a:ahLst/>
              <a:rect l="textAreaLeft" t="textAreaTop" r="textAreaRight" b="textAreaBottom"/>
              <a:pathLst>
                <a:path w="1907279" h="1501002">
                  <a:moveTo>
                    <a:pt x="0" y="0"/>
                  </a:moveTo>
                  <a:lnTo>
                    <a:pt x="1907279" y="0"/>
                  </a:lnTo>
                  <a:lnTo>
                    <a:pt x="1907279" y="1501002"/>
                  </a:lnTo>
                  <a:lnTo>
                    <a:pt x="0" y="1501002"/>
                  </a:lnTo>
                  <a:close/>
                </a:path>
              </a:pathLst>
            </a:custGeom>
            <a:solidFill>
              <a:srgbClr val="ffffff"/>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77" name="TextBox 21"/>
            <p:cNvSpPr/>
            <p:nvPr/>
          </p:nvSpPr>
          <p:spPr>
            <a:xfrm>
              <a:off x="9070200" y="3214440"/>
              <a:ext cx="7240680" cy="5915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78" name="Group 22"/>
          <p:cNvGrpSpPr/>
          <p:nvPr/>
        </p:nvGrpSpPr>
        <p:grpSpPr>
          <a:xfrm>
            <a:off x="508320" y="361800"/>
            <a:ext cx="3364200" cy="972720"/>
            <a:chOff x="508320" y="361800"/>
            <a:chExt cx="3364200" cy="972720"/>
          </a:xfrm>
        </p:grpSpPr>
        <p:sp>
          <p:nvSpPr>
            <p:cNvPr id="179" name="Freeform 23"/>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80" name="TextBox 24"/>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181" name="TextBox 25"/>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grpSp>
        <p:nvGrpSpPr>
          <p:cNvPr id="182" name="Group 10"/>
          <p:cNvGrpSpPr/>
          <p:nvPr/>
        </p:nvGrpSpPr>
        <p:grpSpPr>
          <a:xfrm>
            <a:off x="9110160" y="3204000"/>
            <a:ext cx="7809120" cy="5915160"/>
            <a:chOff x="9110160" y="3204000"/>
            <a:chExt cx="7809120" cy="5915160"/>
          </a:xfrm>
        </p:grpSpPr>
        <p:sp>
          <p:nvSpPr>
            <p:cNvPr id="183" name="Freeform 27"/>
            <p:cNvSpPr/>
            <p:nvPr/>
          </p:nvSpPr>
          <p:spPr>
            <a:xfrm>
              <a:off x="9110160" y="3420720"/>
              <a:ext cx="7809120" cy="5698080"/>
            </a:xfrm>
            <a:custGeom>
              <a:avLst/>
              <a:gdLst>
                <a:gd name="textAreaLeft" fmla="*/ 0 w 7809120"/>
                <a:gd name="textAreaRight" fmla="*/ 7810200 w 7809120"/>
                <a:gd name="textAreaTop" fmla="*/ 0 h 5698080"/>
                <a:gd name="textAreaBottom" fmla="*/ 5699160 h 5698080"/>
              </a:gdLst>
              <a:ahLst/>
              <a:rect l="textAreaLeft" t="textAreaTop" r="textAreaRight" b="textAreaBottom"/>
              <a:pathLst>
                <a:path w="1907279" h="1501002">
                  <a:moveTo>
                    <a:pt x="0" y="0"/>
                  </a:moveTo>
                  <a:lnTo>
                    <a:pt x="1907279" y="0"/>
                  </a:lnTo>
                  <a:lnTo>
                    <a:pt x="1907279" y="1501002"/>
                  </a:lnTo>
                  <a:lnTo>
                    <a:pt x="0" y="150100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84" name="TextBox 30"/>
            <p:cNvSpPr/>
            <p:nvPr/>
          </p:nvSpPr>
          <p:spPr>
            <a:xfrm>
              <a:off x="9110160" y="3204000"/>
              <a:ext cx="7809120" cy="591516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sp>
        <p:nvSpPr>
          <p:cNvPr id="185" name="TextBox 26"/>
          <p:cNvSpPr/>
          <p:nvPr/>
        </p:nvSpPr>
        <p:spPr>
          <a:xfrm>
            <a:off x="9313920" y="3545280"/>
            <a:ext cx="1635480" cy="1018800"/>
          </a:xfrm>
          <a:prstGeom prst="rect">
            <a:avLst/>
          </a:prstGeom>
          <a:noFill/>
          <a:ln w="0">
            <a:noFill/>
          </a:ln>
        </p:spPr>
        <p:style>
          <a:lnRef idx="0"/>
          <a:fillRef idx="0"/>
          <a:effectRef idx="0"/>
          <a:fontRef idx="minor"/>
        </p:style>
        <p:txBody>
          <a:bodyPr lIns="0" rIns="0" tIns="0" bIns="0" anchor="t">
            <a:spAutoFit/>
          </a:bodyPr>
          <a:p>
            <a:pPr defTabSz="914400">
              <a:lnSpc>
                <a:spcPts val="8025"/>
              </a:lnSpc>
            </a:pPr>
            <a:r>
              <a:rPr b="1" lang="en-US" sz="5730" spc="-1" strike="noStrike">
                <a:solidFill>
                  <a:srgbClr val="343434"/>
                </a:solidFill>
                <a:latin typeface="Coco Gothic Heavy"/>
                <a:ea typeface="Coco Gothic Heavy"/>
              </a:rPr>
              <a:t>02.</a:t>
            </a:r>
            <a:endParaRPr b="0" lang="id-ID" sz="5730" spc="-1" strike="noStrike">
              <a:solidFill>
                <a:srgbClr val="000000"/>
              </a:solidFill>
              <a:latin typeface="Arial"/>
            </a:endParaRPr>
          </a:p>
        </p:txBody>
      </p:sp>
      <p:sp>
        <p:nvSpPr>
          <p:cNvPr id="186" name="TextBox 27"/>
          <p:cNvSpPr/>
          <p:nvPr/>
        </p:nvSpPr>
        <p:spPr>
          <a:xfrm>
            <a:off x="9250200" y="4566240"/>
            <a:ext cx="7669080" cy="4743000"/>
          </a:xfrm>
          <a:prstGeom prst="rect">
            <a:avLst/>
          </a:prstGeom>
          <a:noFill/>
          <a:ln w="0">
            <a:noFill/>
          </a:ln>
        </p:spPr>
        <p:style>
          <a:lnRef idx="0"/>
          <a:fillRef idx="0"/>
          <a:effectRef idx="0"/>
          <a:fontRef idx="minor"/>
        </p:style>
        <p:txBody>
          <a:bodyPr lIns="0" rIns="0" tIns="0" bIns="0" anchor="t">
            <a:spAutoFit/>
          </a:bodyPr>
          <a:p>
            <a:pPr defTabSz="914400">
              <a:lnSpc>
                <a:spcPts val="4669"/>
              </a:lnSpc>
            </a:pPr>
            <a:r>
              <a:rPr b="0" lang="en-US" sz="3200" spc="-1" strike="noStrike">
                <a:solidFill>
                  <a:srgbClr val="343434"/>
                </a:solidFill>
                <a:latin typeface="Poppins"/>
                <a:ea typeface="Poppins"/>
              </a:rPr>
              <a:t>Untuk menganalisis penerapan sistem monitoring okupansi ruangan agar bisa membantu meningkatkan efisiensi dan transparansi pengelolaan ruang kuliah di Universitas Pancasakti Tegal melalui pemanfaatan teknologi Internet of Things (IoT).</a:t>
            </a:r>
            <a:endParaRPr b="0" lang="id-ID" sz="3200" spc="-1" strike="noStrike">
              <a:solidFill>
                <a:srgbClr val="000000"/>
              </a:solidFill>
              <a:latin typeface="Arial"/>
            </a:endParaRPr>
          </a:p>
          <a:p>
            <a:pPr defTabSz="914400">
              <a:lnSpc>
                <a:spcPts val="4669"/>
              </a:lnSpc>
            </a:pPr>
            <a:endParaRPr b="0" lang="id-ID" sz="334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87" name="Group 2"/>
          <p:cNvGrpSpPr/>
          <p:nvPr/>
        </p:nvGrpSpPr>
        <p:grpSpPr>
          <a:xfrm>
            <a:off x="-772920" y="4926600"/>
            <a:ext cx="19684800" cy="5819400"/>
            <a:chOff x="-772920" y="4926600"/>
            <a:chExt cx="19684800" cy="5819400"/>
          </a:xfrm>
        </p:grpSpPr>
        <p:sp>
          <p:nvSpPr>
            <p:cNvPr id="188" name="Freeform 3"/>
            <p:cNvSpPr/>
            <p:nvPr/>
          </p:nvSpPr>
          <p:spPr>
            <a:xfrm>
              <a:off x="-772920" y="5143680"/>
              <a:ext cx="19684800" cy="5602320"/>
            </a:xfrm>
            <a:custGeom>
              <a:avLst/>
              <a:gdLst>
                <a:gd name="textAreaLeft" fmla="*/ 0 w 19684800"/>
                <a:gd name="textAreaRight" fmla="*/ 19685880 w 19684800"/>
                <a:gd name="textAreaTop" fmla="*/ 0 h 5602320"/>
                <a:gd name="textAreaBottom" fmla="*/ 5603400 h 5602320"/>
              </a:gdLst>
              <a:ahLst/>
              <a:rect l="textAreaLeft" t="textAreaTop" r="textAreaRight" b="textAreaBottom"/>
              <a:pathLst>
                <a:path w="5184742" h="1475759">
                  <a:moveTo>
                    <a:pt x="0" y="0"/>
                  </a:moveTo>
                  <a:lnTo>
                    <a:pt x="5184742" y="0"/>
                  </a:lnTo>
                  <a:lnTo>
                    <a:pt x="5184742" y="1475759"/>
                  </a:lnTo>
                  <a:lnTo>
                    <a:pt x="0" y="1475759"/>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189" name="TextBox 4"/>
            <p:cNvSpPr/>
            <p:nvPr/>
          </p:nvSpPr>
          <p:spPr>
            <a:xfrm>
              <a:off x="-772920" y="4926600"/>
              <a:ext cx="19684800" cy="58190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90" name="Group 5"/>
          <p:cNvGrpSpPr/>
          <p:nvPr/>
        </p:nvGrpSpPr>
        <p:grpSpPr>
          <a:xfrm>
            <a:off x="579960" y="1817280"/>
            <a:ext cx="17337960" cy="7863480"/>
            <a:chOff x="579960" y="1817280"/>
            <a:chExt cx="17337960" cy="7863480"/>
          </a:xfrm>
        </p:grpSpPr>
        <p:sp>
          <p:nvSpPr>
            <p:cNvPr id="191" name="Freeform 6"/>
            <p:cNvSpPr/>
            <p:nvPr/>
          </p:nvSpPr>
          <p:spPr>
            <a:xfrm>
              <a:off x="579960" y="2034360"/>
              <a:ext cx="17337960" cy="7646400"/>
            </a:xfrm>
            <a:custGeom>
              <a:avLst/>
              <a:gdLst>
                <a:gd name="textAreaLeft" fmla="*/ 0 w 17337960"/>
                <a:gd name="textAreaRight" fmla="*/ 17339040 w 17337960"/>
                <a:gd name="textAreaTop" fmla="*/ 0 h 7646400"/>
                <a:gd name="textAreaBottom" fmla="*/ 7647480 h 7646400"/>
              </a:gdLst>
              <a:ahLst/>
              <a:rect l="textAreaLeft" t="textAreaTop" r="textAreaRight" b="textAreaBottom"/>
              <a:pathLst>
                <a:path w="4566626" h="2014127">
                  <a:moveTo>
                    <a:pt x="0" y="0"/>
                  </a:moveTo>
                  <a:lnTo>
                    <a:pt x="4566626" y="0"/>
                  </a:lnTo>
                  <a:lnTo>
                    <a:pt x="4566626" y="2014127"/>
                  </a:lnTo>
                  <a:lnTo>
                    <a:pt x="0" y="2014127"/>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92" name="TextBox 7"/>
            <p:cNvSpPr/>
            <p:nvPr/>
          </p:nvSpPr>
          <p:spPr>
            <a:xfrm>
              <a:off x="579960" y="1817280"/>
              <a:ext cx="17337960" cy="7863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193" name="Freeform 8"/>
          <p:cNvSpPr/>
          <p:nvPr/>
        </p:nvSpPr>
        <p:spPr>
          <a:xfrm>
            <a:off x="16662240" y="-1625760"/>
            <a:ext cx="3250440" cy="3250440"/>
          </a:xfrm>
          <a:custGeom>
            <a:avLst/>
            <a:gdLst>
              <a:gd name="textAreaLeft" fmla="*/ 0 w 3250440"/>
              <a:gd name="textAreaRight" fmla="*/ 3251520 w 3250440"/>
              <a:gd name="textAreaTop" fmla="*/ 0 h 3250440"/>
              <a:gd name="textAreaBottom" fmla="*/ 3251520 h 3250440"/>
            </a:gdLst>
            <a:ahLst/>
            <a:rect l="textAreaLeft" t="textAreaTop" r="textAreaRight" b="textAreaBottom"/>
            <a:pathLst>
              <a:path w="3251404" h="3251404">
                <a:moveTo>
                  <a:pt x="0" y="0"/>
                </a:moveTo>
                <a:lnTo>
                  <a:pt x="3251404" y="0"/>
                </a:lnTo>
                <a:lnTo>
                  <a:pt x="3251404" y="3251404"/>
                </a:lnTo>
                <a:lnTo>
                  <a:pt x="0" y="3251404"/>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grpSp>
        <p:nvGrpSpPr>
          <p:cNvPr id="194" name="Group 9"/>
          <p:cNvGrpSpPr/>
          <p:nvPr/>
        </p:nvGrpSpPr>
        <p:grpSpPr>
          <a:xfrm>
            <a:off x="-698760" y="-591480"/>
            <a:ext cx="19684800" cy="952200"/>
            <a:chOff x="-698760" y="-591480"/>
            <a:chExt cx="19684800" cy="952200"/>
          </a:xfrm>
        </p:grpSpPr>
        <p:sp>
          <p:nvSpPr>
            <p:cNvPr id="195" name="Freeform 10"/>
            <p:cNvSpPr/>
            <p:nvPr/>
          </p:nvSpPr>
          <p:spPr>
            <a:xfrm>
              <a:off x="-698760" y="-374400"/>
              <a:ext cx="19684800" cy="735120"/>
            </a:xfrm>
            <a:custGeom>
              <a:avLst/>
              <a:gdLst>
                <a:gd name="textAreaLeft" fmla="*/ 0 w 19684800"/>
                <a:gd name="textAreaRight" fmla="*/ 19685880 w 19684800"/>
                <a:gd name="textAreaTop" fmla="*/ 0 h 735120"/>
                <a:gd name="textAreaBottom" fmla="*/ 736200 h 735120"/>
              </a:gdLst>
              <a:ahLst/>
              <a:rect l="textAreaLeft" t="textAreaTop" r="textAreaRight" b="textAreaBottom"/>
              <a:pathLst>
                <a:path w="5184742" h="193858">
                  <a:moveTo>
                    <a:pt x="0" y="0"/>
                  </a:moveTo>
                  <a:lnTo>
                    <a:pt x="5184742" y="0"/>
                  </a:lnTo>
                  <a:lnTo>
                    <a:pt x="5184742" y="193858"/>
                  </a:lnTo>
                  <a:lnTo>
                    <a:pt x="0" y="193858"/>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196" name="TextBox 11"/>
            <p:cNvSpPr/>
            <p:nvPr/>
          </p:nvSpPr>
          <p:spPr>
            <a:xfrm>
              <a:off x="-698760" y="-591480"/>
              <a:ext cx="19684800" cy="951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197" name="Group 12"/>
          <p:cNvGrpSpPr/>
          <p:nvPr/>
        </p:nvGrpSpPr>
        <p:grpSpPr>
          <a:xfrm>
            <a:off x="14462640" y="9758520"/>
            <a:ext cx="3244320" cy="444240"/>
            <a:chOff x="14462640" y="9758520"/>
            <a:chExt cx="3244320" cy="444240"/>
          </a:xfrm>
        </p:grpSpPr>
        <p:sp>
          <p:nvSpPr>
            <p:cNvPr id="198" name="TextBox 13"/>
            <p:cNvSpPr/>
            <p:nvPr/>
          </p:nvSpPr>
          <p:spPr>
            <a:xfrm>
              <a:off x="14462640" y="982368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ffffff"/>
                  </a:solidFill>
                  <a:latin typeface="Coco Gothic Heavy"/>
                  <a:ea typeface="Coco Gothic Heavy"/>
                </a:rPr>
                <a:t>SEMINAR PROPOSAL</a:t>
              </a:r>
              <a:endParaRPr b="0" lang="id-ID" sz="1729" spc="-1" strike="noStrike">
                <a:solidFill>
                  <a:srgbClr val="000000"/>
                </a:solidFill>
                <a:latin typeface="Arial"/>
              </a:endParaRPr>
            </a:p>
          </p:txBody>
        </p:sp>
        <p:sp>
          <p:nvSpPr>
            <p:cNvPr id="199" name="TextBox 14"/>
            <p:cNvSpPr/>
            <p:nvPr/>
          </p:nvSpPr>
          <p:spPr>
            <a:xfrm>
              <a:off x="17110800" y="975852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ffffff"/>
                  </a:solidFill>
                  <a:latin typeface="Coco Gothic Heavy"/>
                  <a:ea typeface="Coco Gothic Heavy"/>
                </a:rPr>
                <a:t>05</a:t>
              </a:r>
              <a:endParaRPr b="0" lang="id-ID" sz="2500" spc="-1" strike="noStrike">
                <a:solidFill>
                  <a:srgbClr val="000000"/>
                </a:solidFill>
                <a:latin typeface="Arial"/>
              </a:endParaRPr>
            </a:p>
          </p:txBody>
        </p:sp>
        <p:sp>
          <p:nvSpPr>
            <p:cNvPr id="200" name="AutoShape 15"/>
            <p:cNvSpPr/>
            <p:nvPr/>
          </p:nvSpPr>
          <p:spPr>
            <a:xfrm>
              <a:off x="17082360" y="9823320"/>
              <a:ext cx="360" cy="304560"/>
            </a:xfrm>
            <a:prstGeom prst="line">
              <a:avLst/>
            </a:prstGeom>
            <a:ln w="50800">
              <a:solidFill>
                <a:srgbClr val="ffffff"/>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201" name="Freeform 16"/>
          <p:cNvSpPr/>
          <p:nvPr/>
        </p:nvSpPr>
        <p:spPr>
          <a:xfrm>
            <a:off x="-698760" y="9248760"/>
            <a:ext cx="1583640" cy="1497240"/>
          </a:xfrm>
          <a:custGeom>
            <a:avLst/>
            <a:gdLst>
              <a:gd name="textAreaLeft" fmla="*/ 0 w 1583640"/>
              <a:gd name="textAreaRight" fmla="*/ 1584720 w 1583640"/>
              <a:gd name="textAreaTop" fmla="*/ 0 h 1497240"/>
              <a:gd name="textAreaBottom" fmla="*/ 1498320 h 1497240"/>
            </a:gdLst>
            <a:ahLst/>
            <a:rect l="textAreaLeft" t="textAreaTop" r="textAreaRight" b="textAreaBottom"/>
            <a:pathLst>
              <a:path w="1584583" h="1498151">
                <a:moveTo>
                  <a:pt x="0" y="0"/>
                </a:moveTo>
                <a:lnTo>
                  <a:pt x="1584583" y="0"/>
                </a:lnTo>
                <a:lnTo>
                  <a:pt x="1584583" y="1498151"/>
                </a:lnTo>
                <a:lnTo>
                  <a:pt x="0" y="1498151"/>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02" name="TextBox 17"/>
          <p:cNvSpPr/>
          <p:nvPr/>
        </p:nvSpPr>
        <p:spPr>
          <a:xfrm>
            <a:off x="435240" y="1958040"/>
            <a:ext cx="17268840" cy="6720120"/>
          </a:xfrm>
          <a:prstGeom prst="rect">
            <a:avLst/>
          </a:prstGeom>
          <a:noFill/>
          <a:ln w="0">
            <a:noFill/>
          </a:ln>
        </p:spPr>
        <p:style>
          <a:lnRef idx="0"/>
          <a:fillRef idx="0"/>
          <a:effectRef idx="0"/>
          <a:fontRef idx="minor"/>
        </p:style>
        <p:txBody>
          <a:bodyPr lIns="0" rIns="0" tIns="0" bIns="0" anchor="t">
            <a:spAutoFit/>
          </a:bodyPr>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Sistem Monitoring Ruangan adalah alat okupansi ruangan sederhana menggunakan IoT guna mencari ruang kelas kosong untuk pembelajaran dan termonitor. </a:t>
            </a:r>
            <a:r>
              <a:rPr b="1" lang="en-US" sz="2910" spc="-1" strike="noStrike">
                <a:solidFill>
                  <a:srgbClr val="343434"/>
                </a:solidFill>
                <a:latin typeface="Poppins Bold"/>
                <a:ea typeface="Poppins Bold"/>
              </a:rPr>
              <a:t>(Nurwarsito &amp;Adaby, 2024)</a:t>
            </a:r>
            <a:endParaRPr b="0" lang="id-ID" sz="2910" spc="-1" strike="noStrike">
              <a:solidFill>
                <a:srgbClr val="000000"/>
              </a:solidFill>
              <a:latin typeface="Arial"/>
            </a:endParaRPr>
          </a:p>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Okupansi ruangan adalah indikator yang menggambarkan tingkat pemanfaatan suatu ruangan dalam satu lingkungan.</a:t>
            </a:r>
            <a:r>
              <a:rPr b="1" lang="en-US" sz="2910" spc="-1" strike="noStrike">
                <a:solidFill>
                  <a:srgbClr val="343434"/>
                </a:solidFill>
                <a:latin typeface="Poppins Bold"/>
                <a:ea typeface="Poppins Bold"/>
              </a:rPr>
              <a:t> (Febry Lodwik, et. al , 2022)</a:t>
            </a:r>
            <a:endParaRPr b="0" lang="id-ID" sz="2910" spc="-1" strike="noStrike">
              <a:solidFill>
                <a:srgbClr val="000000"/>
              </a:solidFill>
              <a:latin typeface="Arial"/>
            </a:endParaRPr>
          </a:p>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Internet Of Things, teknologi yang mampu menghubungkan perangkat fisik dengan jaringan internet agar bisa saling tukar data  secara otomatis. </a:t>
            </a:r>
            <a:r>
              <a:rPr b="1" lang="en-US" sz="2910" spc="-1" strike="noStrike">
                <a:solidFill>
                  <a:srgbClr val="343434"/>
                </a:solidFill>
                <a:latin typeface="Poppins Bold"/>
                <a:ea typeface="Poppins Bold"/>
              </a:rPr>
              <a:t>(Harpad, 2022)</a:t>
            </a:r>
            <a:endParaRPr b="0" lang="id-ID" sz="2910" spc="-1" strike="noStrike">
              <a:solidFill>
                <a:srgbClr val="000000"/>
              </a:solidFill>
              <a:latin typeface="Arial"/>
            </a:endParaRPr>
          </a:p>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ESP 32 sebagai mikrokontroller utama untuk mengolah data dan Sensor Passive Infrared, alat yang mendeteksi pergerakan melalui radiasi infra merah guna memonitoring ruangan. </a:t>
            </a:r>
            <a:r>
              <a:rPr b="1" lang="en-US" sz="2910" spc="-1" strike="noStrike">
                <a:solidFill>
                  <a:srgbClr val="343434"/>
                </a:solidFill>
                <a:latin typeface="Poppins Bold"/>
                <a:ea typeface="Poppins Bold"/>
              </a:rPr>
              <a:t>(Surani, 2025; Rahmat &amp; Yanti, 2022)</a:t>
            </a:r>
            <a:endParaRPr b="0" lang="id-ID" sz="2910" spc="-1" strike="noStrike">
              <a:solidFill>
                <a:srgbClr val="000000"/>
              </a:solidFill>
              <a:latin typeface="Arial"/>
            </a:endParaRPr>
          </a:p>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Dashboard Website untuk tampilan hasil data yang bisa dilihat oleh pengguna.</a:t>
            </a:r>
            <a:r>
              <a:rPr b="1" lang="en-US" sz="2910" spc="-1" strike="noStrike">
                <a:solidFill>
                  <a:srgbClr val="343434"/>
                </a:solidFill>
                <a:latin typeface="Poppins Bold"/>
                <a:ea typeface="Poppins Bold"/>
              </a:rPr>
              <a:t>(Sutedjo, et. al 2023)</a:t>
            </a:r>
            <a:endParaRPr b="0" lang="id-ID" sz="2910" spc="-1" strike="noStrike">
              <a:solidFill>
                <a:srgbClr val="000000"/>
              </a:solidFill>
              <a:latin typeface="Arial"/>
            </a:endParaRPr>
          </a:p>
          <a:p>
            <a:pPr lvl="1" marL="627840" indent="-313560" algn="just" defTabSz="914400">
              <a:lnSpc>
                <a:spcPts val="4071"/>
              </a:lnSpc>
              <a:buClr>
                <a:srgbClr val="343434"/>
              </a:buClr>
              <a:buFont typeface="OpenSymbol"/>
              <a:buAutoNum type="arabicPeriod"/>
            </a:pPr>
            <a:r>
              <a:rPr b="0" lang="en-US" sz="2910" spc="-1" strike="noStrike">
                <a:solidFill>
                  <a:srgbClr val="343434"/>
                </a:solidFill>
                <a:latin typeface="Poppins"/>
                <a:ea typeface="Poppins"/>
              </a:rPr>
              <a:t>Firebase sebagai database untuk menyimpan dan mengolah data yang sudah matang untuk ditampilkan ke dalam dashboard serta informasi real-time</a:t>
            </a:r>
            <a:r>
              <a:rPr b="1" lang="en-US" sz="2910" spc="-1" strike="noStrike">
                <a:solidFill>
                  <a:srgbClr val="343434"/>
                </a:solidFill>
                <a:latin typeface="Poppins Bold"/>
                <a:ea typeface="Poppins Bold"/>
              </a:rPr>
              <a:t>(Mitu, et. al, 2021) </a:t>
            </a:r>
            <a:endParaRPr b="0" lang="id-ID" sz="2910" spc="-1" strike="noStrike">
              <a:solidFill>
                <a:srgbClr val="000000"/>
              </a:solidFill>
              <a:latin typeface="Arial"/>
            </a:endParaRPr>
          </a:p>
        </p:txBody>
      </p:sp>
      <p:sp>
        <p:nvSpPr>
          <p:cNvPr id="203" name="TextBox 18"/>
          <p:cNvSpPr/>
          <p:nvPr/>
        </p:nvSpPr>
        <p:spPr>
          <a:xfrm>
            <a:off x="6163200" y="371160"/>
            <a:ext cx="633600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Landasan Teori</a:t>
            </a:r>
            <a:endParaRPr b="0" lang="id-ID" sz="6000" spc="-1" strike="noStrike">
              <a:solidFill>
                <a:srgbClr val="000000"/>
              </a:solidFill>
              <a:latin typeface="Arial"/>
            </a:endParaRPr>
          </a:p>
        </p:txBody>
      </p:sp>
      <p:grpSp>
        <p:nvGrpSpPr>
          <p:cNvPr id="204" name="Group 19"/>
          <p:cNvGrpSpPr/>
          <p:nvPr/>
        </p:nvGrpSpPr>
        <p:grpSpPr>
          <a:xfrm>
            <a:off x="508320" y="361800"/>
            <a:ext cx="3364200" cy="972720"/>
            <a:chOff x="508320" y="361800"/>
            <a:chExt cx="3364200" cy="972720"/>
          </a:xfrm>
        </p:grpSpPr>
        <p:sp>
          <p:nvSpPr>
            <p:cNvPr id="205" name="Freeform 20"/>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06" name="TextBox 21"/>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207" name="TextBox 22"/>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08" name="Group 2"/>
          <p:cNvGrpSpPr/>
          <p:nvPr/>
        </p:nvGrpSpPr>
        <p:grpSpPr>
          <a:xfrm>
            <a:off x="-772920" y="4926600"/>
            <a:ext cx="19684800" cy="5819400"/>
            <a:chOff x="-772920" y="4926600"/>
            <a:chExt cx="19684800" cy="5819400"/>
          </a:xfrm>
        </p:grpSpPr>
        <p:sp>
          <p:nvSpPr>
            <p:cNvPr id="209" name="Freeform 3"/>
            <p:cNvSpPr/>
            <p:nvPr/>
          </p:nvSpPr>
          <p:spPr>
            <a:xfrm>
              <a:off x="-772920" y="5143680"/>
              <a:ext cx="19684800" cy="5602320"/>
            </a:xfrm>
            <a:custGeom>
              <a:avLst/>
              <a:gdLst>
                <a:gd name="textAreaLeft" fmla="*/ 0 w 19684800"/>
                <a:gd name="textAreaRight" fmla="*/ 19685880 w 19684800"/>
                <a:gd name="textAreaTop" fmla="*/ 0 h 5602320"/>
                <a:gd name="textAreaBottom" fmla="*/ 5603400 h 5602320"/>
              </a:gdLst>
              <a:ahLst/>
              <a:rect l="textAreaLeft" t="textAreaTop" r="textAreaRight" b="textAreaBottom"/>
              <a:pathLst>
                <a:path w="5184742" h="1475759">
                  <a:moveTo>
                    <a:pt x="0" y="0"/>
                  </a:moveTo>
                  <a:lnTo>
                    <a:pt x="5184742" y="0"/>
                  </a:lnTo>
                  <a:lnTo>
                    <a:pt x="5184742" y="1475759"/>
                  </a:lnTo>
                  <a:lnTo>
                    <a:pt x="0" y="1475759"/>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210" name="TextBox 4"/>
            <p:cNvSpPr/>
            <p:nvPr/>
          </p:nvSpPr>
          <p:spPr>
            <a:xfrm>
              <a:off x="-772920" y="4926600"/>
              <a:ext cx="19684800" cy="58190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11" name="Group 5"/>
          <p:cNvGrpSpPr/>
          <p:nvPr/>
        </p:nvGrpSpPr>
        <p:grpSpPr>
          <a:xfrm>
            <a:off x="579960" y="1504080"/>
            <a:ext cx="17337960" cy="8176680"/>
            <a:chOff x="579960" y="1504080"/>
            <a:chExt cx="17337960" cy="8176680"/>
          </a:xfrm>
        </p:grpSpPr>
        <p:sp>
          <p:nvSpPr>
            <p:cNvPr id="212" name="Freeform 6"/>
            <p:cNvSpPr/>
            <p:nvPr/>
          </p:nvSpPr>
          <p:spPr>
            <a:xfrm>
              <a:off x="579960" y="1720800"/>
              <a:ext cx="17337960" cy="7959600"/>
            </a:xfrm>
            <a:custGeom>
              <a:avLst/>
              <a:gdLst>
                <a:gd name="textAreaLeft" fmla="*/ 0 w 17337960"/>
                <a:gd name="textAreaRight" fmla="*/ 17339040 w 17337960"/>
                <a:gd name="textAreaTop" fmla="*/ 0 h 7959600"/>
                <a:gd name="textAreaBottom" fmla="*/ 7960680 h 7959600"/>
              </a:gdLst>
              <a:ahLst/>
              <a:rect l="textAreaLeft" t="textAreaTop" r="textAreaRight" b="textAreaBottom"/>
              <a:pathLst>
                <a:path w="4566626" h="2096630">
                  <a:moveTo>
                    <a:pt x="0" y="0"/>
                  </a:moveTo>
                  <a:lnTo>
                    <a:pt x="4566626" y="0"/>
                  </a:lnTo>
                  <a:lnTo>
                    <a:pt x="4566626" y="2096630"/>
                  </a:lnTo>
                  <a:lnTo>
                    <a:pt x="0" y="2096630"/>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13" name="TextBox 7"/>
            <p:cNvSpPr/>
            <p:nvPr/>
          </p:nvSpPr>
          <p:spPr>
            <a:xfrm>
              <a:off x="579960" y="1504080"/>
              <a:ext cx="17337960" cy="81766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14" name="Freeform 8"/>
          <p:cNvSpPr/>
          <p:nvPr/>
        </p:nvSpPr>
        <p:spPr>
          <a:xfrm>
            <a:off x="16662240" y="-1625760"/>
            <a:ext cx="3250440" cy="3250440"/>
          </a:xfrm>
          <a:custGeom>
            <a:avLst/>
            <a:gdLst>
              <a:gd name="textAreaLeft" fmla="*/ 0 w 3250440"/>
              <a:gd name="textAreaRight" fmla="*/ 3251520 w 3250440"/>
              <a:gd name="textAreaTop" fmla="*/ 0 h 3250440"/>
              <a:gd name="textAreaBottom" fmla="*/ 3251520 h 3250440"/>
            </a:gdLst>
            <a:ahLst/>
            <a:rect l="textAreaLeft" t="textAreaTop" r="textAreaRight" b="textAreaBottom"/>
            <a:pathLst>
              <a:path w="3251404" h="3251404">
                <a:moveTo>
                  <a:pt x="0" y="0"/>
                </a:moveTo>
                <a:lnTo>
                  <a:pt x="3251404" y="0"/>
                </a:lnTo>
                <a:lnTo>
                  <a:pt x="3251404" y="3251404"/>
                </a:lnTo>
                <a:lnTo>
                  <a:pt x="0" y="3251404"/>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grpSp>
        <p:nvGrpSpPr>
          <p:cNvPr id="215" name="Group 9"/>
          <p:cNvGrpSpPr/>
          <p:nvPr/>
        </p:nvGrpSpPr>
        <p:grpSpPr>
          <a:xfrm>
            <a:off x="-698760" y="-591480"/>
            <a:ext cx="19684800" cy="952200"/>
            <a:chOff x="-698760" y="-591480"/>
            <a:chExt cx="19684800" cy="952200"/>
          </a:xfrm>
        </p:grpSpPr>
        <p:sp>
          <p:nvSpPr>
            <p:cNvPr id="216" name="Freeform 10"/>
            <p:cNvSpPr/>
            <p:nvPr/>
          </p:nvSpPr>
          <p:spPr>
            <a:xfrm>
              <a:off x="-698760" y="-374400"/>
              <a:ext cx="19684800" cy="735120"/>
            </a:xfrm>
            <a:custGeom>
              <a:avLst/>
              <a:gdLst>
                <a:gd name="textAreaLeft" fmla="*/ 0 w 19684800"/>
                <a:gd name="textAreaRight" fmla="*/ 19685880 w 19684800"/>
                <a:gd name="textAreaTop" fmla="*/ 0 h 735120"/>
                <a:gd name="textAreaBottom" fmla="*/ 736200 h 735120"/>
              </a:gdLst>
              <a:ahLst/>
              <a:rect l="textAreaLeft" t="textAreaTop" r="textAreaRight" b="textAreaBottom"/>
              <a:pathLst>
                <a:path w="5184742" h="193858">
                  <a:moveTo>
                    <a:pt x="0" y="0"/>
                  </a:moveTo>
                  <a:lnTo>
                    <a:pt x="5184742" y="0"/>
                  </a:lnTo>
                  <a:lnTo>
                    <a:pt x="5184742" y="193858"/>
                  </a:lnTo>
                  <a:lnTo>
                    <a:pt x="0" y="193858"/>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17" name="TextBox 11"/>
            <p:cNvSpPr/>
            <p:nvPr/>
          </p:nvSpPr>
          <p:spPr>
            <a:xfrm>
              <a:off x="-698760" y="-591480"/>
              <a:ext cx="19684800" cy="951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18" name="Group 12"/>
          <p:cNvGrpSpPr/>
          <p:nvPr/>
        </p:nvGrpSpPr>
        <p:grpSpPr>
          <a:xfrm>
            <a:off x="14462640" y="9758520"/>
            <a:ext cx="3244320" cy="444240"/>
            <a:chOff x="14462640" y="9758520"/>
            <a:chExt cx="3244320" cy="444240"/>
          </a:xfrm>
        </p:grpSpPr>
        <p:sp>
          <p:nvSpPr>
            <p:cNvPr id="219" name="TextBox 13"/>
            <p:cNvSpPr/>
            <p:nvPr/>
          </p:nvSpPr>
          <p:spPr>
            <a:xfrm>
              <a:off x="14462640" y="982368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ffffff"/>
                  </a:solidFill>
                  <a:latin typeface="Coco Gothic Heavy"/>
                  <a:ea typeface="Coco Gothic Heavy"/>
                </a:rPr>
                <a:t>SEMINAR PROPOSAL</a:t>
              </a:r>
              <a:endParaRPr b="0" lang="id-ID" sz="1729" spc="-1" strike="noStrike">
                <a:solidFill>
                  <a:srgbClr val="000000"/>
                </a:solidFill>
                <a:latin typeface="Arial"/>
              </a:endParaRPr>
            </a:p>
          </p:txBody>
        </p:sp>
        <p:sp>
          <p:nvSpPr>
            <p:cNvPr id="220" name="TextBox 14"/>
            <p:cNvSpPr/>
            <p:nvPr/>
          </p:nvSpPr>
          <p:spPr>
            <a:xfrm>
              <a:off x="17110800" y="975852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ffffff"/>
                  </a:solidFill>
                  <a:latin typeface="Coco Gothic Heavy"/>
                  <a:ea typeface="Coco Gothic Heavy"/>
                </a:rPr>
                <a:t>06</a:t>
              </a:r>
              <a:endParaRPr b="0" lang="id-ID" sz="2500" spc="-1" strike="noStrike">
                <a:solidFill>
                  <a:srgbClr val="000000"/>
                </a:solidFill>
                <a:latin typeface="Arial"/>
              </a:endParaRPr>
            </a:p>
          </p:txBody>
        </p:sp>
        <p:sp>
          <p:nvSpPr>
            <p:cNvPr id="221" name="AutoShape 15"/>
            <p:cNvSpPr/>
            <p:nvPr/>
          </p:nvSpPr>
          <p:spPr>
            <a:xfrm>
              <a:off x="17082360" y="9823320"/>
              <a:ext cx="360" cy="304560"/>
            </a:xfrm>
            <a:prstGeom prst="line">
              <a:avLst/>
            </a:prstGeom>
            <a:ln w="50800">
              <a:solidFill>
                <a:srgbClr val="ffffff"/>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222" name="Freeform 16"/>
          <p:cNvSpPr/>
          <p:nvPr/>
        </p:nvSpPr>
        <p:spPr>
          <a:xfrm>
            <a:off x="-698760" y="9248760"/>
            <a:ext cx="1583640" cy="1497240"/>
          </a:xfrm>
          <a:custGeom>
            <a:avLst/>
            <a:gdLst>
              <a:gd name="textAreaLeft" fmla="*/ 0 w 1583640"/>
              <a:gd name="textAreaRight" fmla="*/ 1584720 w 1583640"/>
              <a:gd name="textAreaTop" fmla="*/ 0 h 1497240"/>
              <a:gd name="textAreaBottom" fmla="*/ 1498320 h 1497240"/>
            </a:gdLst>
            <a:ahLst/>
            <a:rect l="textAreaLeft" t="textAreaTop" r="textAreaRight" b="textAreaBottom"/>
            <a:pathLst>
              <a:path w="1584583" h="1498151">
                <a:moveTo>
                  <a:pt x="0" y="0"/>
                </a:moveTo>
                <a:lnTo>
                  <a:pt x="1584583" y="0"/>
                </a:lnTo>
                <a:lnTo>
                  <a:pt x="1584583" y="1498151"/>
                </a:lnTo>
                <a:lnTo>
                  <a:pt x="0" y="1498151"/>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23" name="TextBox 17"/>
          <p:cNvSpPr/>
          <p:nvPr/>
        </p:nvSpPr>
        <p:spPr>
          <a:xfrm>
            <a:off x="885600" y="1958040"/>
            <a:ext cx="16818480" cy="5169240"/>
          </a:xfrm>
          <a:prstGeom prst="rect">
            <a:avLst/>
          </a:prstGeom>
          <a:noFill/>
          <a:ln w="0">
            <a:noFill/>
          </a:ln>
        </p:spPr>
        <p:style>
          <a:lnRef idx="0"/>
          <a:fillRef idx="0"/>
          <a:effectRef idx="0"/>
          <a:fontRef idx="minor"/>
        </p:style>
        <p:txBody>
          <a:bodyPr lIns="0" rIns="0" tIns="0" bIns="0" anchor="t">
            <a:spAutoFit/>
          </a:bodyPr>
          <a:p>
            <a:pPr lvl="1" marL="627840" indent="-313560" algn="just" defTabSz="914400">
              <a:lnSpc>
                <a:spcPts val="4071"/>
              </a:lnSpc>
              <a:buClr>
                <a:srgbClr val="343434"/>
              </a:buClr>
              <a:buFont typeface="OpenSymbol"/>
              <a:buAutoNum type="arabicPeriod"/>
            </a:pPr>
            <a:r>
              <a:rPr b="1" lang="en-US" sz="2910" spc="-1" strike="noStrike">
                <a:solidFill>
                  <a:srgbClr val="343434"/>
                </a:solidFill>
                <a:latin typeface="Poppins Bold"/>
                <a:ea typeface="Poppins Bold"/>
              </a:rPr>
              <a:t> </a:t>
            </a:r>
            <a:r>
              <a:rPr b="1" lang="en-US" sz="2910" spc="-1" strike="noStrike">
                <a:solidFill>
                  <a:srgbClr val="343434"/>
                </a:solidFill>
                <a:latin typeface="Poppins Bold"/>
                <a:ea typeface="Poppins Bold"/>
              </a:rPr>
              <a:t>I  Nyoman Widyam Rizqi Samkayana (2025)</a:t>
            </a:r>
            <a:endParaRPr b="0" lang="id-ID" sz="2910" spc="-1" strike="noStrike">
              <a:solidFill>
                <a:srgbClr val="000000"/>
              </a:solidFill>
              <a:latin typeface="Arial"/>
            </a:endParaRPr>
          </a:p>
          <a:p>
            <a:pPr algn="just" defTabSz="914400">
              <a:lnSpc>
                <a:spcPts val="4071"/>
              </a:lnSpc>
            </a:pPr>
            <a:r>
              <a:rPr b="0" lang="en-US" sz="2910" spc="-1" strike="noStrike">
                <a:solidFill>
                  <a:srgbClr val="343434"/>
                </a:solidFill>
                <a:latin typeface="Poppins"/>
                <a:ea typeface="Poppins"/>
              </a:rPr>
              <a:t>=&gt; Implementasi Firebase Realtime Database Pada Smart Cat Feeder Berbasis Mikrokontroler Esp32</a:t>
            </a:r>
            <a:endParaRPr b="0" lang="id-ID" sz="2910" spc="-1" strike="noStrike">
              <a:solidFill>
                <a:srgbClr val="000000"/>
              </a:solidFill>
              <a:latin typeface="Arial"/>
            </a:endParaRPr>
          </a:p>
          <a:p>
            <a:pPr lvl="1" marL="627840" indent="-313560" defTabSz="914400">
              <a:lnSpc>
                <a:spcPts val="4071"/>
              </a:lnSpc>
              <a:buClr>
                <a:srgbClr val="343434"/>
              </a:buClr>
              <a:buFont typeface="OpenSymbol"/>
              <a:buAutoNum type="arabicPeriod"/>
            </a:pPr>
            <a:r>
              <a:rPr b="1" lang="en-US" sz="2910" spc="-1" strike="noStrike">
                <a:solidFill>
                  <a:srgbClr val="343434"/>
                </a:solidFill>
                <a:latin typeface="Poppins Bold"/>
                <a:ea typeface="Poppins Bold"/>
              </a:rPr>
              <a:t> </a:t>
            </a:r>
            <a:r>
              <a:rPr b="1" lang="en-US" sz="2910" spc="-1" strike="noStrike">
                <a:solidFill>
                  <a:srgbClr val="343434"/>
                </a:solidFill>
                <a:latin typeface="Poppins Bold"/>
                <a:ea typeface="Poppins Bold"/>
              </a:rPr>
              <a:t>Made Wira Prayoga, Bagus Gede Krishna Yudistira(2025)</a:t>
            </a:r>
            <a:endParaRPr b="0" lang="id-ID" sz="2910" spc="-1" strike="noStrike">
              <a:solidFill>
                <a:srgbClr val="000000"/>
              </a:solidFill>
              <a:latin typeface="Arial"/>
            </a:endParaRPr>
          </a:p>
          <a:p>
            <a:pPr defTabSz="914400">
              <a:lnSpc>
                <a:spcPts val="4071"/>
              </a:lnSpc>
            </a:pPr>
            <a:r>
              <a:rPr b="0" lang="en-US" sz="2910" spc="-1" strike="noStrike">
                <a:solidFill>
                  <a:srgbClr val="343434"/>
                </a:solidFill>
                <a:latin typeface="Poppins"/>
                <a:ea typeface="Poppins"/>
              </a:rPr>
              <a:t>=&gt; Sistem Monitoring Dan Pengelolaan Sampah Berbasis Iot Dan Cloud Menggunakan Google Firebase Pada Tempat Sampah Pintar</a:t>
            </a:r>
            <a:endParaRPr b="0" lang="id-ID" sz="2910" spc="-1" strike="noStrike">
              <a:solidFill>
                <a:srgbClr val="000000"/>
              </a:solidFill>
              <a:latin typeface="Arial"/>
            </a:endParaRPr>
          </a:p>
          <a:p>
            <a:pPr lvl="1" marL="627840" indent="-313560" defTabSz="914400">
              <a:lnSpc>
                <a:spcPts val="4071"/>
              </a:lnSpc>
              <a:buClr>
                <a:srgbClr val="343434"/>
              </a:buClr>
              <a:buFont typeface="OpenSymbol"/>
              <a:buAutoNum type="arabicPeriod"/>
            </a:pPr>
            <a:r>
              <a:rPr b="1" lang="en-US" sz="2910" spc="-1" strike="noStrike">
                <a:solidFill>
                  <a:srgbClr val="343434"/>
                </a:solidFill>
                <a:latin typeface="Poppins Bold"/>
                <a:ea typeface="Poppins Bold"/>
              </a:rPr>
              <a:t> </a:t>
            </a:r>
            <a:r>
              <a:rPr b="1" lang="en-US" sz="2910" spc="-1" strike="noStrike">
                <a:solidFill>
                  <a:srgbClr val="343434"/>
                </a:solidFill>
                <a:latin typeface="Poppins Bold"/>
                <a:ea typeface="Poppins Bold"/>
              </a:rPr>
              <a:t>Boedi Prasetyo et al., (2020)</a:t>
            </a:r>
            <a:endParaRPr b="0" lang="id-ID" sz="2910" spc="-1" strike="noStrike">
              <a:solidFill>
                <a:srgbClr val="000000"/>
              </a:solidFill>
              <a:latin typeface="Arial"/>
            </a:endParaRPr>
          </a:p>
          <a:p>
            <a:pPr defTabSz="914400">
              <a:lnSpc>
                <a:spcPts val="4071"/>
              </a:lnSpc>
            </a:pPr>
            <a:r>
              <a:rPr b="0" lang="en-US" sz="2910" spc="-1" strike="noStrike">
                <a:solidFill>
                  <a:srgbClr val="343434"/>
                </a:solidFill>
                <a:latin typeface="Poppins"/>
                <a:ea typeface="Poppins"/>
              </a:rPr>
              <a:t>=&gt;  penggunaan ESP32, untuk mengontrol berbagai sensor dalam membuat sistem pemantauan jarak jauh untuk proses di industri. Penelitian ini juga memanfaatkan Firebase sebagai database realtime.</a:t>
            </a:r>
            <a:endParaRPr b="0" lang="id-ID" sz="2910" spc="-1" strike="noStrike">
              <a:solidFill>
                <a:srgbClr val="000000"/>
              </a:solidFill>
              <a:latin typeface="Arial"/>
            </a:endParaRPr>
          </a:p>
        </p:txBody>
      </p:sp>
      <p:sp>
        <p:nvSpPr>
          <p:cNvPr id="224" name="TextBox 18"/>
          <p:cNvSpPr/>
          <p:nvPr/>
        </p:nvSpPr>
        <p:spPr>
          <a:xfrm>
            <a:off x="5493960" y="463680"/>
            <a:ext cx="729864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Tinjauan Pustaka</a:t>
            </a:r>
            <a:endParaRPr b="0" lang="id-ID" sz="6000" spc="-1" strike="noStrike">
              <a:solidFill>
                <a:srgbClr val="000000"/>
              </a:solidFill>
              <a:latin typeface="Arial"/>
            </a:endParaRPr>
          </a:p>
        </p:txBody>
      </p:sp>
      <p:grpSp>
        <p:nvGrpSpPr>
          <p:cNvPr id="225" name="Group 19"/>
          <p:cNvGrpSpPr/>
          <p:nvPr/>
        </p:nvGrpSpPr>
        <p:grpSpPr>
          <a:xfrm>
            <a:off x="508320" y="361800"/>
            <a:ext cx="3364200" cy="972720"/>
            <a:chOff x="508320" y="361800"/>
            <a:chExt cx="3364200" cy="972720"/>
          </a:xfrm>
        </p:grpSpPr>
        <p:sp>
          <p:nvSpPr>
            <p:cNvPr id="226" name="Freeform 20"/>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27" name="TextBox 21"/>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228" name="TextBox 22"/>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
        <p:nvSpPr>
          <p:cNvPr id="229" name="TextBox 23"/>
          <p:cNvSpPr/>
          <p:nvPr/>
        </p:nvSpPr>
        <p:spPr>
          <a:xfrm>
            <a:off x="734400" y="8056440"/>
            <a:ext cx="16818480" cy="1550520"/>
          </a:xfrm>
          <a:prstGeom prst="rect">
            <a:avLst/>
          </a:prstGeom>
          <a:noFill/>
          <a:ln w="0">
            <a:noFill/>
          </a:ln>
        </p:spPr>
        <p:style>
          <a:lnRef idx="0"/>
          <a:fillRef idx="0"/>
          <a:effectRef idx="0"/>
          <a:fontRef idx="minor"/>
        </p:style>
        <p:txBody>
          <a:bodyPr lIns="0" rIns="0" tIns="0" bIns="0" anchor="t">
            <a:spAutoFit/>
          </a:bodyPr>
          <a:p>
            <a:pPr algn="just" defTabSz="914400">
              <a:lnSpc>
                <a:spcPts val="4071"/>
              </a:lnSpc>
            </a:pPr>
            <a:r>
              <a:rPr b="0" lang="en-US" sz="2910" spc="-1" strike="noStrike">
                <a:solidFill>
                  <a:srgbClr val="343434"/>
                </a:solidFill>
                <a:latin typeface="Poppins"/>
                <a:ea typeface="Poppins"/>
              </a:rPr>
              <a:t>*) Dalam beberapa tinjauan pustaka memang belum ada yang mengarah ke okupansi ruangan. Maka dari itu, penelitian ini memanfaatkan pendekatan penelitian terdahulu untuk diaplikasikan ke Sistem Monitoring Okupansi Ruangan</a:t>
            </a:r>
            <a:endParaRPr b="0" lang="id-ID" sz="291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30" name="Group 13"/>
          <p:cNvGrpSpPr/>
          <p:nvPr/>
        </p:nvGrpSpPr>
        <p:grpSpPr>
          <a:xfrm>
            <a:off x="1260000" y="3060000"/>
            <a:ext cx="7809120" cy="6069600"/>
            <a:chOff x="1260000" y="3060000"/>
            <a:chExt cx="7809120" cy="6069600"/>
          </a:xfrm>
        </p:grpSpPr>
        <p:sp>
          <p:nvSpPr>
            <p:cNvPr id="231" name="Freeform 28"/>
            <p:cNvSpPr/>
            <p:nvPr/>
          </p:nvSpPr>
          <p:spPr>
            <a:xfrm>
              <a:off x="1260000" y="3282480"/>
              <a:ext cx="7809120" cy="5846760"/>
            </a:xfrm>
            <a:custGeom>
              <a:avLst/>
              <a:gdLst>
                <a:gd name="textAreaLeft" fmla="*/ 0 w 7809120"/>
                <a:gd name="textAreaRight" fmla="*/ 7810200 w 7809120"/>
                <a:gd name="textAreaTop" fmla="*/ 0 h 5846760"/>
                <a:gd name="textAreaBottom" fmla="*/ 5847840 h 5846760"/>
              </a:gdLst>
              <a:ahLst/>
              <a:rect l="textAreaLeft" t="textAreaTop" r="textAreaRight" b="textAreaBottom"/>
              <a:pathLst>
                <a:path w="1907279" h="1501002">
                  <a:moveTo>
                    <a:pt x="0" y="0"/>
                  </a:moveTo>
                  <a:lnTo>
                    <a:pt x="1907279" y="0"/>
                  </a:lnTo>
                  <a:lnTo>
                    <a:pt x="1907279" y="1501002"/>
                  </a:lnTo>
                  <a:lnTo>
                    <a:pt x="0" y="150100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32" name="TextBox 36"/>
            <p:cNvSpPr/>
            <p:nvPr/>
          </p:nvSpPr>
          <p:spPr>
            <a:xfrm>
              <a:off x="1260000" y="3060000"/>
              <a:ext cx="7809120" cy="60696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grpSp>
        <p:nvGrpSpPr>
          <p:cNvPr id="233" name="Group 2"/>
          <p:cNvGrpSpPr/>
          <p:nvPr/>
        </p:nvGrpSpPr>
        <p:grpSpPr>
          <a:xfrm>
            <a:off x="-772920" y="9708480"/>
            <a:ext cx="19684800" cy="1017360"/>
            <a:chOff x="-772920" y="9708480"/>
            <a:chExt cx="19684800" cy="1017360"/>
          </a:xfrm>
        </p:grpSpPr>
        <p:sp>
          <p:nvSpPr>
            <p:cNvPr id="234" name="Freeform 3"/>
            <p:cNvSpPr/>
            <p:nvPr/>
          </p:nvSpPr>
          <p:spPr>
            <a:xfrm>
              <a:off x="-772920" y="9925200"/>
              <a:ext cx="19684800" cy="800280"/>
            </a:xfrm>
            <a:custGeom>
              <a:avLst/>
              <a:gdLst>
                <a:gd name="textAreaLeft" fmla="*/ 0 w 19684800"/>
                <a:gd name="textAreaRight" fmla="*/ 19685880 w 19684800"/>
                <a:gd name="textAreaTop" fmla="*/ 0 h 800280"/>
                <a:gd name="textAreaBottom" fmla="*/ 801360 h 800280"/>
              </a:gdLst>
              <a:ahLst/>
              <a:rect l="textAreaLeft" t="textAreaTop" r="textAreaRight" b="textAreaBottom"/>
              <a:pathLst>
                <a:path w="5184742" h="211064">
                  <a:moveTo>
                    <a:pt x="0" y="0"/>
                  </a:moveTo>
                  <a:lnTo>
                    <a:pt x="5184742" y="0"/>
                  </a:lnTo>
                  <a:lnTo>
                    <a:pt x="5184742" y="211064"/>
                  </a:lnTo>
                  <a:lnTo>
                    <a:pt x="0" y="211064"/>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235" name="TextBox 4"/>
            <p:cNvSpPr/>
            <p:nvPr/>
          </p:nvSpPr>
          <p:spPr>
            <a:xfrm>
              <a:off x="-772920" y="9708480"/>
              <a:ext cx="19684800" cy="1017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36" name="Group 5"/>
          <p:cNvGrpSpPr/>
          <p:nvPr/>
        </p:nvGrpSpPr>
        <p:grpSpPr>
          <a:xfrm>
            <a:off x="-698760" y="-667800"/>
            <a:ext cx="19684800" cy="1028520"/>
            <a:chOff x="-698760" y="-667800"/>
            <a:chExt cx="19684800" cy="1028520"/>
          </a:xfrm>
        </p:grpSpPr>
        <p:sp>
          <p:nvSpPr>
            <p:cNvPr id="237" name="Freeform 6"/>
            <p:cNvSpPr/>
            <p:nvPr/>
          </p:nvSpPr>
          <p:spPr>
            <a:xfrm>
              <a:off x="-698760" y="-450720"/>
              <a:ext cx="19684800" cy="811440"/>
            </a:xfrm>
            <a:custGeom>
              <a:avLst/>
              <a:gdLst>
                <a:gd name="textAreaLeft" fmla="*/ 0 w 19684800"/>
                <a:gd name="textAreaRight" fmla="*/ 19685880 w 19684800"/>
                <a:gd name="textAreaTop" fmla="*/ 0 h 811440"/>
                <a:gd name="textAreaBottom" fmla="*/ 812520 h 811440"/>
              </a:gdLst>
              <a:ahLst/>
              <a:rect l="textAreaLeft" t="textAreaTop" r="textAreaRight" b="textAreaBottom"/>
              <a:pathLst>
                <a:path w="5184742" h="213971">
                  <a:moveTo>
                    <a:pt x="0" y="0"/>
                  </a:moveTo>
                  <a:lnTo>
                    <a:pt x="5184742" y="0"/>
                  </a:lnTo>
                  <a:lnTo>
                    <a:pt x="5184742" y="213971"/>
                  </a:lnTo>
                  <a:lnTo>
                    <a:pt x="0" y="213971"/>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38" name="TextBox 7"/>
            <p:cNvSpPr/>
            <p:nvPr/>
          </p:nvSpPr>
          <p:spPr>
            <a:xfrm>
              <a:off x="-698760" y="-667800"/>
              <a:ext cx="19684800" cy="102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39" name="Group 14"/>
          <p:cNvGrpSpPr/>
          <p:nvPr/>
        </p:nvGrpSpPr>
        <p:grpSpPr>
          <a:xfrm>
            <a:off x="9470520" y="3060000"/>
            <a:ext cx="7809120" cy="6084720"/>
            <a:chOff x="9470520" y="3060000"/>
            <a:chExt cx="7809120" cy="6084720"/>
          </a:xfrm>
        </p:grpSpPr>
        <p:sp>
          <p:nvSpPr>
            <p:cNvPr id="240" name="Freeform 29"/>
            <p:cNvSpPr/>
            <p:nvPr/>
          </p:nvSpPr>
          <p:spPr>
            <a:xfrm>
              <a:off x="9470520" y="3282840"/>
              <a:ext cx="7809120" cy="5861520"/>
            </a:xfrm>
            <a:custGeom>
              <a:avLst/>
              <a:gdLst>
                <a:gd name="textAreaLeft" fmla="*/ 0 w 7809120"/>
                <a:gd name="textAreaRight" fmla="*/ 7810200 w 7809120"/>
                <a:gd name="textAreaTop" fmla="*/ 0 h 5861520"/>
                <a:gd name="textAreaBottom" fmla="*/ 5862600 h 5861520"/>
              </a:gdLst>
              <a:ahLst/>
              <a:rect l="textAreaLeft" t="textAreaTop" r="textAreaRight" b="textAreaBottom"/>
              <a:pathLst>
                <a:path w="1907279" h="1501002">
                  <a:moveTo>
                    <a:pt x="0" y="0"/>
                  </a:moveTo>
                  <a:lnTo>
                    <a:pt x="1907279" y="0"/>
                  </a:lnTo>
                  <a:lnTo>
                    <a:pt x="1907279" y="1501002"/>
                  </a:lnTo>
                  <a:lnTo>
                    <a:pt x="0" y="1501002"/>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41" name="TextBox 37"/>
            <p:cNvSpPr/>
            <p:nvPr/>
          </p:nvSpPr>
          <p:spPr>
            <a:xfrm>
              <a:off x="9470520" y="3060000"/>
              <a:ext cx="7809120" cy="60847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grpSp>
        <p:nvGrpSpPr>
          <p:cNvPr id="242" name="Group 8"/>
          <p:cNvGrpSpPr/>
          <p:nvPr/>
        </p:nvGrpSpPr>
        <p:grpSpPr>
          <a:xfrm>
            <a:off x="14007960" y="9253080"/>
            <a:ext cx="3244320" cy="444240"/>
            <a:chOff x="14007960" y="9253080"/>
            <a:chExt cx="3244320" cy="444240"/>
          </a:xfrm>
        </p:grpSpPr>
        <p:sp>
          <p:nvSpPr>
            <p:cNvPr id="243" name="TextBox 9"/>
            <p:cNvSpPr/>
            <p:nvPr/>
          </p:nvSpPr>
          <p:spPr>
            <a:xfrm>
              <a:off x="14007960" y="9318240"/>
              <a:ext cx="2618640" cy="306360"/>
            </a:xfrm>
            <a:prstGeom prst="rect">
              <a:avLst/>
            </a:prstGeom>
            <a:noFill/>
            <a:ln w="0">
              <a:noFill/>
            </a:ln>
          </p:spPr>
          <p:style>
            <a:lnRef idx="0"/>
            <a:fillRef idx="0"/>
            <a:effectRef idx="0"/>
            <a:fontRef idx="minor"/>
          </p:style>
          <p:txBody>
            <a:bodyPr lIns="0" rIns="0" tIns="0" bIns="0" anchor="t">
              <a:spAutoFit/>
            </a:bodyPr>
            <a:p>
              <a:pPr defTabSz="914400">
                <a:lnSpc>
                  <a:spcPts val="2415"/>
                </a:lnSpc>
              </a:pPr>
              <a:r>
                <a:rPr b="1" lang="en-US" sz="1729" spc="-1" strike="noStrike">
                  <a:solidFill>
                    <a:srgbClr val="343434"/>
                  </a:solidFill>
                  <a:latin typeface="Coco Gothic Heavy"/>
                  <a:ea typeface="Coco Gothic Heavy"/>
                </a:rPr>
                <a:t>SEMINAR PROPOSAL</a:t>
              </a:r>
              <a:endParaRPr b="0" lang="id-ID" sz="1729" spc="-1" strike="noStrike">
                <a:solidFill>
                  <a:srgbClr val="000000"/>
                </a:solidFill>
                <a:latin typeface="Arial"/>
              </a:endParaRPr>
            </a:p>
          </p:txBody>
        </p:sp>
        <p:sp>
          <p:nvSpPr>
            <p:cNvPr id="244" name="TextBox 10"/>
            <p:cNvSpPr/>
            <p:nvPr/>
          </p:nvSpPr>
          <p:spPr>
            <a:xfrm>
              <a:off x="16656120" y="9253080"/>
              <a:ext cx="596160" cy="444240"/>
            </a:xfrm>
            <a:prstGeom prst="rect">
              <a:avLst/>
            </a:prstGeom>
            <a:noFill/>
            <a:ln w="0">
              <a:noFill/>
            </a:ln>
          </p:spPr>
          <p:style>
            <a:lnRef idx="0"/>
            <a:fillRef idx="0"/>
            <a:effectRef idx="0"/>
            <a:fontRef idx="minor"/>
          </p:style>
          <p:txBody>
            <a:bodyPr lIns="0" rIns="0" tIns="0" bIns="0" anchor="t">
              <a:spAutoFit/>
            </a:bodyPr>
            <a:p>
              <a:pPr algn="ctr" defTabSz="914400">
                <a:lnSpc>
                  <a:spcPts val="3501"/>
                </a:lnSpc>
              </a:pPr>
              <a:r>
                <a:rPr b="1" lang="en-US" sz="2500" spc="-1" strike="noStrike">
                  <a:solidFill>
                    <a:srgbClr val="343434"/>
                  </a:solidFill>
                  <a:latin typeface="Coco Gothic Heavy"/>
                  <a:ea typeface="Coco Gothic Heavy"/>
                </a:rPr>
                <a:t>07</a:t>
              </a:r>
              <a:endParaRPr b="0" lang="id-ID" sz="2500" spc="-1" strike="noStrike">
                <a:solidFill>
                  <a:srgbClr val="000000"/>
                </a:solidFill>
                <a:latin typeface="Arial"/>
              </a:endParaRPr>
            </a:p>
          </p:txBody>
        </p:sp>
        <p:sp>
          <p:nvSpPr>
            <p:cNvPr id="245" name="AutoShape 11"/>
            <p:cNvSpPr/>
            <p:nvPr/>
          </p:nvSpPr>
          <p:spPr>
            <a:xfrm>
              <a:off x="16627680" y="9318240"/>
              <a:ext cx="360" cy="304200"/>
            </a:xfrm>
            <a:prstGeom prst="line">
              <a:avLst/>
            </a:prstGeom>
            <a:ln w="50800">
              <a:solidFill>
                <a:srgbClr val="dcd0c0"/>
              </a:solidFill>
              <a:round/>
            </a:ln>
          </p:spPr>
          <p:style>
            <a:lnRef idx="0"/>
            <a:fillRef idx="0"/>
            <a:effectRef idx="0"/>
            <a:fontRef idx="minor"/>
          </p:style>
          <p:txBody>
            <a:bodyPr lIns="90000" rIns="90000" tIns="45000" bIns="45000" anchor="t" anchorCtr="1">
              <a:noAutofit/>
            </a:bodyPr>
            <a:p>
              <a:endParaRPr b="0" lang="id-ID" sz="1800" spc="-1" strike="noStrike">
                <a:solidFill>
                  <a:srgbClr val="000000"/>
                </a:solidFill>
                <a:latin typeface="Arial"/>
              </a:endParaRPr>
            </a:p>
          </p:txBody>
        </p:sp>
      </p:grpSp>
      <p:sp>
        <p:nvSpPr>
          <p:cNvPr id="246" name="TextBox 19"/>
          <p:cNvSpPr/>
          <p:nvPr/>
        </p:nvSpPr>
        <p:spPr>
          <a:xfrm>
            <a:off x="5220000" y="627840"/>
            <a:ext cx="815256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Metode Penelitian</a:t>
            </a:r>
            <a:endParaRPr b="0" lang="id-ID" sz="6000" spc="-1" strike="noStrike">
              <a:solidFill>
                <a:srgbClr val="000000"/>
              </a:solidFill>
              <a:latin typeface="Arial"/>
            </a:endParaRPr>
          </a:p>
        </p:txBody>
      </p:sp>
      <p:sp>
        <p:nvSpPr>
          <p:cNvPr id="247" name="TextBox 20"/>
          <p:cNvSpPr/>
          <p:nvPr/>
        </p:nvSpPr>
        <p:spPr>
          <a:xfrm>
            <a:off x="1497600" y="4312800"/>
            <a:ext cx="7142040" cy="4633560"/>
          </a:xfrm>
          <a:prstGeom prst="rect">
            <a:avLst/>
          </a:prstGeom>
          <a:noFill/>
          <a:ln w="0">
            <a:noFill/>
          </a:ln>
        </p:spPr>
        <p:style>
          <a:lnRef idx="0"/>
          <a:fillRef idx="0"/>
          <a:effectRef idx="0"/>
          <a:fontRef idx="minor"/>
        </p:style>
        <p:txBody>
          <a:bodyPr lIns="0" rIns="0" tIns="0" bIns="0" anchor="t">
            <a:spAutoFit/>
          </a:bodyPr>
          <a:p>
            <a:pPr defTabSz="914400">
              <a:lnSpc>
                <a:spcPts val="4561"/>
              </a:lnSpc>
            </a:pPr>
            <a:r>
              <a:rPr b="0" lang="en-US" sz="3259" spc="-1" strike="noStrike">
                <a:solidFill>
                  <a:srgbClr val="343434"/>
                </a:solidFill>
                <a:latin typeface="Poppins"/>
                <a:ea typeface="Poppins"/>
              </a:rPr>
              <a:t>Penelitian ini menggunakan metode Research and Development (R&amp;D) dengan pendekatan pengembangan prototipe Sistem Monitoring Okupansi Ruangan berbasis IoT.</a:t>
            </a:r>
            <a:endParaRPr b="0" lang="id-ID" sz="3259" spc="-1" strike="noStrike">
              <a:solidFill>
                <a:srgbClr val="000000"/>
              </a:solidFill>
              <a:latin typeface="Arial"/>
            </a:endParaRPr>
          </a:p>
          <a:p>
            <a:pPr defTabSz="914400">
              <a:lnSpc>
                <a:spcPts val="4561"/>
              </a:lnSpc>
            </a:pPr>
            <a:r>
              <a:rPr b="0" lang="en-US" sz="3259" spc="-1" strike="noStrike">
                <a:solidFill>
                  <a:srgbClr val="343434"/>
                </a:solidFill>
                <a:latin typeface="Poppins"/>
                <a:ea typeface="Poppins"/>
              </a:rPr>
              <a:t>Pengujian ini dilakukan dengan membuat alat fisik menggabungkan ESP 32 dan Sensor PIR.</a:t>
            </a:r>
            <a:endParaRPr b="0" lang="id-ID" sz="3259" spc="-1" strike="noStrike">
              <a:solidFill>
                <a:srgbClr val="000000"/>
              </a:solidFill>
              <a:latin typeface="Arial"/>
            </a:endParaRPr>
          </a:p>
        </p:txBody>
      </p:sp>
      <p:grpSp>
        <p:nvGrpSpPr>
          <p:cNvPr id="248" name="Group 21"/>
          <p:cNvGrpSpPr/>
          <p:nvPr/>
        </p:nvGrpSpPr>
        <p:grpSpPr>
          <a:xfrm>
            <a:off x="508320" y="361800"/>
            <a:ext cx="3364200" cy="972720"/>
            <a:chOff x="508320" y="361800"/>
            <a:chExt cx="3364200" cy="972720"/>
          </a:xfrm>
        </p:grpSpPr>
        <p:sp>
          <p:nvSpPr>
            <p:cNvPr id="249" name="Freeform 22"/>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50" name="TextBox 23"/>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251" name="TextBox 24"/>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
        <p:nvSpPr>
          <p:cNvPr id="252" name="TextBox 29"/>
          <p:cNvSpPr/>
          <p:nvPr/>
        </p:nvSpPr>
        <p:spPr>
          <a:xfrm>
            <a:off x="9785160" y="4322880"/>
            <a:ext cx="7314480" cy="3475440"/>
          </a:xfrm>
          <a:prstGeom prst="rect">
            <a:avLst/>
          </a:prstGeom>
          <a:noFill/>
          <a:ln w="0">
            <a:noFill/>
          </a:ln>
        </p:spPr>
        <p:style>
          <a:lnRef idx="0"/>
          <a:fillRef idx="0"/>
          <a:effectRef idx="0"/>
          <a:fontRef idx="minor"/>
        </p:style>
        <p:txBody>
          <a:bodyPr lIns="0" rIns="0" tIns="0" bIns="0" anchor="t">
            <a:spAutoFit/>
          </a:bodyPr>
          <a:p>
            <a:pPr defTabSz="914400">
              <a:lnSpc>
                <a:spcPts val="4561"/>
              </a:lnSpc>
            </a:pPr>
            <a:r>
              <a:rPr b="0" lang="en-US" sz="3259" spc="-1" strike="noStrike">
                <a:solidFill>
                  <a:srgbClr val="343434"/>
                </a:solidFill>
                <a:latin typeface="Poppins"/>
                <a:ea typeface="Poppins"/>
              </a:rPr>
              <a:t>Pengumpulan data melalui observasi kinerja sistem, pengumpulan data oleh sensor, pengolahan data dengan firebase, pengujian bertahap dengan monitoring </a:t>
            </a:r>
            <a:r>
              <a:rPr b="0" i="1" lang="en-US" sz="3259" spc="-1" strike="noStrike">
                <a:solidFill>
                  <a:srgbClr val="343434"/>
                </a:solidFill>
                <a:latin typeface="Poppins Italics"/>
                <a:ea typeface="Poppins Italics"/>
              </a:rPr>
              <a:t>dashboard website</a:t>
            </a:r>
            <a:endParaRPr b="0" lang="id-ID" sz="3259" spc="-1" strike="noStrike">
              <a:solidFill>
                <a:srgbClr val="000000"/>
              </a:solidFill>
              <a:latin typeface="Arial"/>
            </a:endParaRPr>
          </a:p>
        </p:txBody>
      </p:sp>
      <p:sp>
        <p:nvSpPr>
          <p:cNvPr id="253" name="TextBox 38"/>
          <p:cNvSpPr/>
          <p:nvPr/>
        </p:nvSpPr>
        <p:spPr>
          <a:xfrm>
            <a:off x="-2032920" y="3420000"/>
            <a:ext cx="815256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01.</a:t>
            </a:r>
            <a:endParaRPr b="0" lang="id-ID" sz="6000" spc="-1" strike="noStrike">
              <a:solidFill>
                <a:srgbClr val="000000"/>
              </a:solidFill>
              <a:latin typeface="Arial"/>
            </a:endParaRPr>
          </a:p>
        </p:txBody>
      </p:sp>
      <p:sp>
        <p:nvSpPr>
          <p:cNvPr id="254" name="TextBox 39"/>
          <p:cNvSpPr/>
          <p:nvPr/>
        </p:nvSpPr>
        <p:spPr>
          <a:xfrm>
            <a:off x="6300000" y="3466800"/>
            <a:ext cx="8152560" cy="845640"/>
          </a:xfrm>
          <a:prstGeom prst="rect">
            <a:avLst/>
          </a:prstGeom>
          <a:noFill/>
          <a:ln w="0">
            <a:noFill/>
          </a:ln>
        </p:spPr>
        <p:style>
          <a:lnRef idx="0"/>
          <a:fillRef idx="0"/>
          <a:effectRef idx="0"/>
          <a:fontRef idx="minor"/>
        </p:style>
        <p:txBody>
          <a:bodyPr lIns="0" rIns="0" tIns="0" bIns="0" anchor="t">
            <a:spAutoFit/>
          </a:bodyPr>
          <a:p>
            <a:pPr algn="ctr" defTabSz="914400">
              <a:lnSpc>
                <a:spcPts val="6661"/>
              </a:lnSpc>
            </a:pPr>
            <a:r>
              <a:rPr b="1" lang="en-US" sz="6000" spc="-1" strike="noStrike">
                <a:solidFill>
                  <a:srgbClr val="343434"/>
                </a:solidFill>
                <a:latin typeface="Coco Gothic Heavy"/>
                <a:ea typeface="Coco Gothic Heavy"/>
              </a:rPr>
              <a:t>02.</a:t>
            </a:r>
            <a:endParaRPr b="0" lang="id-ID"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5" name="Group 2"/>
          <p:cNvGrpSpPr/>
          <p:nvPr/>
        </p:nvGrpSpPr>
        <p:grpSpPr>
          <a:xfrm>
            <a:off x="-772920" y="9708480"/>
            <a:ext cx="19684800" cy="1017360"/>
            <a:chOff x="-772920" y="9708480"/>
            <a:chExt cx="19684800" cy="1017360"/>
          </a:xfrm>
        </p:grpSpPr>
        <p:sp>
          <p:nvSpPr>
            <p:cNvPr id="256" name="Freeform 3"/>
            <p:cNvSpPr/>
            <p:nvPr/>
          </p:nvSpPr>
          <p:spPr>
            <a:xfrm>
              <a:off x="-772920" y="9925200"/>
              <a:ext cx="19684800" cy="800280"/>
            </a:xfrm>
            <a:custGeom>
              <a:avLst/>
              <a:gdLst>
                <a:gd name="textAreaLeft" fmla="*/ 0 w 19684800"/>
                <a:gd name="textAreaRight" fmla="*/ 19685880 w 19684800"/>
                <a:gd name="textAreaTop" fmla="*/ 0 h 800280"/>
                <a:gd name="textAreaBottom" fmla="*/ 801360 h 800280"/>
              </a:gdLst>
              <a:ahLst/>
              <a:rect l="textAreaLeft" t="textAreaTop" r="textAreaRight" b="textAreaBottom"/>
              <a:pathLst>
                <a:path w="5184742" h="211064">
                  <a:moveTo>
                    <a:pt x="0" y="0"/>
                  </a:moveTo>
                  <a:lnTo>
                    <a:pt x="5184742" y="0"/>
                  </a:lnTo>
                  <a:lnTo>
                    <a:pt x="5184742" y="211064"/>
                  </a:lnTo>
                  <a:lnTo>
                    <a:pt x="0" y="211064"/>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257" name="TextBox 4"/>
            <p:cNvSpPr/>
            <p:nvPr/>
          </p:nvSpPr>
          <p:spPr>
            <a:xfrm>
              <a:off x="-772920" y="9708480"/>
              <a:ext cx="19684800" cy="1017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58" name="Group 5"/>
          <p:cNvGrpSpPr/>
          <p:nvPr/>
        </p:nvGrpSpPr>
        <p:grpSpPr>
          <a:xfrm>
            <a:off x="-698760" y="-667800"/>
            <a:ext cx="19684800" cy="1028520"/>
            <a:chOff x="-698760" y="-667800"/>
            <a:chExt cx="19684800" cy="1028520"/>
          </a:xfrm>
        </p:grpSpPr>
        <p:sp>
          <p:nvSpPr>
            <p:cNvPr id="259" name="Freeform 6"/>
            <p:cNvSpPr/>
            <p:nvPr/>
          </p:nvSpPr>
          <p:spPr>
            <a:xfrm>
              <a:off x="-698760" y="-450720"/>
              <a:ext cx="19684800" cy="811440"/>
            </a:xfrm>
            <a:custGeom>
              <a:avLst/>
              <a:gdLst>
                <a:gd name="textAreaLeft" fmla="*/ 0 w 19684800"/>
                <a:gd name="textAreaRight" fmla="*/ 19685880 w 19684800"/>
                <a:gd name="textAreaTop" fmla="*/ 0 h 811440"/>
                <a:gd name="textAreaBottom" fmla="*/ 812520 h 811440"/>
              </a:gdLst>
              <a:ahLst/>
              <a:rect l="textAreaLeft" t="textAreaTop" r="textAreaRight" b="textAreaBottom"/>
              <a:pathLst>
                <a:path w="5184742" h="213971">
                  <a:moveTo>
                    <a:pt x="0" y="0"/>
                  </a:moveTo>
                  <a:lnTo>
                    <a:pt x="5184742" y="0"/>
                  </a:lnTo>
                  <a:lnTo>
                    <a:pt x="5184742" y="213971"/>
                  </a:lnTo>
                  <a:lnTo>
                    <a:pt x="0" y="213971"/>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60" name="TextBox 7"/>
            <p:cNvSpPr/>
            <p:nvPr/>
          </p:nvSpPr>
          <p:spPr>
            <a:xfrm>
              <a:off x="-698760" y="-667800"/>
              <a:ext cx="19684800" cy="1028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aphicFrame>
        <p:nvGraphicFramePr>
          <p:cNvPr id="261" name="Table 10"/>
          <p:cNvGraphicFramePr/>
          <p:nvPr/>
        </p:nvGraphicFramePr>
        <p:xfrm>
          <a:off x="443520" y="1553400"/>
          <a:ext cx="17252640" cy="5959080"/>
        </p:xfrm>
        <a:graphic>
          <a:graphicData uri="http://schemas.openxmlformats.org/drawingml/2006/table">
            <a:tbl>
              <a:tblPr/>
              <a:tblGrid>
                <a:gridCol w="2165040"/>
                <a:gridCol w="2374920"/>
                <a:gridCol w="1663560"/>
                <a:gridCol w="3886200"/>
                <a:gridCol w="7163280"/>
              </a:tblGrid>
              <a:tr h="440280">
                <a:tc>
                  <a:txBody>
                    <a:bodyPr lIns="190440" rIns="190440" anchor="ctr">
                      <a:noAutofit/>
                    </a:bodyPr>
                    <a:p>
                      <a:pPr algn="ctr" defTabSz="914400">
                        <a:lnSpc>
                          <a:spcPts val="3220"/>
                        </a:lnSpc>
                      </a:pPr>
                      <a:r>
                        <a:rPr b="1" lang="en-US" sz="2300" spc="-1" strike="noStrike">
                          <a:solidFill>
                            <a:srgbClr val="000000"/>
                          </a:solidFill>
                          <a:latin typeface="Coco Gothic Bold"/>
                          <a:ea typeface="Coco Gothic Bold"/>
                        </a:rPr>
                        <a:t>Data</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1" lang="en-US" sz="2300" spc="-1" strike="noStrike">
                          <a:solidFill>
                            <a:srgbClr val="000000"/>
                          </a:solidFill>
                          <a:latin typeface="Coco Gothic Bold"/>
                          <a:ea typeface="Coco Gothic Bold"/>
                        </a:rPr>
                        <a:t>Tgl</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1" lang="en-US" sz="2300" spc="-1" strike="noStrike">
                          <a:solidFill>
                            <a:srgbClr val="000000"/>
                          </a:solidFill>
                          <a:latin typeface="Coco Gothic Bold"/>
                          <a:ea typeface="Coco Gothic Bold"/>
                        </a:rPr>
                        <a:t>No</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1" lang="en-US" sz="2300" spc="-1" strike="noStrike">
                          <a:solidFill>
                            <a:srgbClr val="000000"/>
                          </a:solidFill>
                          <a:latin typeface="Coco Gothic Bold"/>
                          <a:ea typeface="Coco Gothic Bold"/>
                        </a:rPr>
                        <a:t>Contoh</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1" lang="en-US" sz="2300" spc="-1" strike="noStrike">
                          <a:solidFill>
                            <a:srgbClr val="000000"/>
                          </a:solidFill>
                          <a:latin typeface="Coco Gothic Bold"/>
                          <a:ea typeface="Coco Gothic Bold"/>
                        </a:rPr>
                        <a:t>Keterangan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Ruangan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1</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F.101</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Nomor ruangan yang dipakai melalui form inputan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Nama Dosen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Rizky Prasetyo Tulodho</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informasi pengajar mata kuliah melalui form inputan </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Mata Kuliah</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3</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Internet Of Things</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Mata Kuliah yang sedang berlangung</a:t>
                      </a:r>
                      <a:endParaRPr b="0" lang="id-ID" sz="2300" spc="-1" strike="noStrike">
                        <a:solidFill>
                          <a:srgbClr val="000000"/>
                        </a:solidFill>
                        <a:latin typeface="Arial"/>
                      </a:endParaRPr>
                    </a:p>
                    <a:p>
                      <a:pPr algn="ctr" defTabSz="914400">
                        <a:lnSpc>
                          <a:spcPts val="3220"/>
                        </a:lnSpc>
                      </a:pPr>
                      <a:r>
                        <a:rPr b="0" lang="en-US" sz="2300" spc="-1" strike="noStrike">
                          <a:solidFill>
                            <a:srgbClr val="000000"/>
                          </a:solidFill>
                          <a:latin typeface="Coco Gothic"/>
                          <a:ea typeface="Coco Gothic"/>
                        </a:rPr>
                        <a:t>melalui form inputan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42444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Waktu Pelaksanaan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4</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08.00 - 10.00</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Lama waktu mata kuliah berlangung</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Status Ruangan</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5</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Terpakai</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Kondisi Ruangan yang terbaca oleh sensor</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r h="580680">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Waktu Monitor</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20/06/2026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6</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08.01.00</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c>
                  <a:txBody>
                    <a:bodyPr lIns="190440" rIns="190440" anchor="ctr">
                      <a:noAutofit/>
                    </a:bodyPr>
                    <a:p>
                      <a:pPr algn="ctr" defTabSz="914400">
                        <a:lnSpc>
                          <a:spcPts val="3220"/>
                        </a:lnSpc>
                      </a:pPr>
                      <a:r>
                        <a:rPr b="0" lang="en-US" sz="2300" spc="-1" strike="noStrike">
                          <a:solidFill>
                            <a:srgbClr val="000000"/>
                          </a:solidFill>
                          <a:latin typeface="Coco Gothic"/>
                          <a:ea typeface="Coco Gothic"/>
                        </a:rPr>
                        <a:t>waktu yang terbaca oleh sensor yang ditampilkan realtime</a:t>
                      </a:r>
                      <a:endParaRPr b="0" lang="id-ID" sz="2300" spc="-1" strike="noStrike">
                        <a:solidFill>
                          <a:srgbClr val="000000"/>
                        </a:solidFill>
                        <a:latin typeface="Arial"/>
                      </a:endParaRPr>
                    </a:p>
                  </a:txBody>
                  <a:tcPr anchor="ctr" marL="190440" marR="190440">
                    <a:lnL w="3816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noFill/>
                  </a:tcPr>
                </a:tc>
              </a:tr>
            </a:tbl>
          </a:graphicData>
        </a:graphic>
      </p:graphicFrame>
      <p:sp>
        <p:nvSpPr>
          <p:cNvPr id="262" name="TextBox 11"/>
          <p:cNvSpPr/>
          <p:nvPr/>
        </p:nvSpPr>
        <p:spPr>
          <a:xfrm>
            <a:off x="6573240" y="4126680"/>
            <a:ext cx="884520" cy="675360"/>
          </a:xfrm>
          <a:prstGeom prst="rect">
            <a:avLst/>
          </a:prstGeom>
          <a:noFill/>
          <a:ln w="0">
            <a:noFill/>
          </a:ln>
        </p:spPr>
        <p:style>
          <a:lnRef idx="0"/>
          <a:fillRef idx="0"/>
          <a:effectRef idx="0"/>
          <a:fontRef idx="minor"/>
        </p:style>
        <p:txBody>
          <a:bodyPr lIns="0" rIns="0" tIns="0" bIns="0" anchor="t">
            <a:spAutoFit/>
          </a:bodyPr>
          <a:p>
            <a:pPr algn="ctr" defTabSz="914400">
              <a:lnSpc>
                <a:spcPts val="5321"/>
              </a:lnSpc>
            </a:pPr>
            <a:r>
              <a:rPr b="1" lang="en-US" sz="3800" spc="-1" strike="noStrike">
                <a:solidFill>
                  <a:srgbClr val="ffffff"/>
                </a:solidFill>
                <a:latin typeface="Coco Gothic Heavy"/>
                <a:ea typeface="Coco Gothic Heavy"/>
              </a:rPr>
              <a:t>01.</a:t>
            </a:r>
            <a:endParaRPr b="0" lang="id-ID" sz="3800" spc="-1" strike="noStrike">
              <a:solidFill>
                <a:srgbClr val="000000"/>
              </a:solidFill>
              <a:latin typeface="Arial"/>
            </a:endParaRPr>
          </a:p>
        </p:txBody>
      </p:sp>
      <p:sp>
        <p:nvSpPr>
          <p:cNvPr id="263" name="Kotak Teks 12"/>
          <p:cNvSpPr/>
          <p:nvPr/>
        </p:nvSpPr>
        <p:spPr>
          <a:xfrm>
            <a:off x="6983280" y="707040"/>
            <a:ext cx="3912120" cy="57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200" spc="-1" strike="noStrike">
                <a:solidFill>
                  <a:schemeClr val="dk1"/>
                </a:solidFill>
                <a:latin typeface="Calibri"/>
              </a:rPr>
              <a:t>Tabel Data Penelitian</a:t>
            </a:r>
            <a:endParaRPr b="0" lang="id-ID"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64" name="Group 2"/>
          <p:cNvGrpSpPr/>
          <p:nvPr/>
        </p:nvGrpSpPr>
        <p:grpSpPr>
          <a:xfrm>
            <a:off x="-772920" y="9708480"/>
            <a:ext cx="19684800" cy="975960"/>
            <a:chOff x="-772920" y="9708480"/>
            <a:chExt cx="19684800" cy="975960"/>
          </a:xfrm>
        </p:grpSpPr>
        <p:sp>
          <p:nvSpPr>
            <p:cNvPr id="265" name="Freeform 3"/>
            <p:cNvSpPr/>
            <p:nvPr/>
          </p:nvSpPr>
          <p:spPr>
            <a:xfrm>
              <a:off x="-772920" y="9925200"/>
              <a:ext cx="19684800" cy="758880"/>
            </a:xfrm>
            <a:custGeom>
              <a:avLst/>
              <a:gdLst>
                <a:gd name="textAreaLeft" fmla="*/ 0 w 19684800"/>
                <a:gd name="textAreaRight" fmla="*/ 19685880 w 19684800"/>
                <a:gd name="textAreaTop" fmla="*/ 0 h 758880"/>
                <a:gd name="textAreaBottom" fmla="*/ 759960 h 758880"/>
              </a:gdLst>
              <a:ahLst/>
              <a:rect l="textAreaLeft" t="textAreaTop" r="textAreaRight" b="textAreaBottom"/>
              <a:pathLst>
                <a:path w="5184742" h="200145">
                  <a:moveTo>
                    <a:pt x="0" y="0"/>
                  </a:moveTo>
                  <a:lnTo>
                    <a:pt x="5184742" y="0"/>
                  </a:lnTo>
                  <a:lnTo>
                    <a:pt x="5184742" y="200145"/>
                  </a:lnTo>
                  <a:lnTo>
                    <a:pt x="0" y="200145"/>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266" name="TextBox 4"/>
            <p:cNvSpPr/>
            <p:nvPr/>
          </p:nvSpPr>
          <p:spPr>
            <a:xfrm>
              <a:off x="-772920" y="9708480"/>
              <a:ext cx="19684800" cy="97596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grpSp>
        <p:nvGrpSpPr>
          <p:cNvPr id="267" name="Group 5"/>
          <p:cNvGrpSpPr/>
          <p:nvPr/>
        </p:nvGrpSpPr>
        <p:grpSpPr>
          <a:xfrm>
            <a:off x="-698760" y="-840960"/>
            <a:ext cx="19684800" cy="1201680"/>
            <a:chOff x="-698760" y="-840960"/>
            <a:chExt cx="19684800" cy="1201680"/>
          </a:xfrm>
        </p:grpSpPr>
        <p:sp>
          <p:nvSpPr>
            <p:cNvPr id="268" name="Freeform 6"/>
            <p:cNvSpPr/>
            <p:nvPr/>
          </p:nvSpPr>
          <p:spPr>
            <a:xfrm>
              <a:off x="-698760" y="-624240"/>
              <a:ext cx="19684800" cy="984600"/>
            </a:xfrm>
            <a:custGeom>
              <a:avLst/>
              <a:gdLst>
                <a:gd name="textAreaLeft" fmla="*/ 0 w 19684800"/>
                <a:gd name="textAreaRight" fmla="*/ 19685880 w 19684800"/>
                <a:gd name="textAreaTop" fmla="*/ 0 h 984600"/>
                <a:gd name="textAreaBottom" fmla="*/ 985680 h 984600"/>
              </a:gdLst>
              <a:ahLst/>
              <a:rect l="textAreaLeft" t="textAreaTop" r="textAreaRight" b="textAreaBottom"/>
              <a:pathLst>
                <a:path w="5184742" h="259623">
                  <a:moveTo>
                    <a:pt x="0" y="0"/>
                  </a:moveTo>
                  <a:lnTo>
                    <a:pt x="5184742" y="0"/>
                  </a:lnTo>
                  <a:lnTo>
                    <a:pt x="5184742" y="259623"/>
                  </a:lnTo>
                  <a:lnTo>
                    <a:pt x="0" y="259623"/>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69" name="TextBox 7"/>
            <p:cNvSpPr/>
            <p:nvPr/>
          </p:nvSpPr>
          <p:spPr>
            <a:xfrm>
              <a:off x="-698760" y="-840960"/>
              <a:ext cx="19684800" cy="120168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ndParaRPr>
            </a:p>
          </p:txBody>
        </p:sp>
      </p:grpSp>
      <p:pic>
        <p:nvPicPr>
          <p:cNvPr id="270" name="Gambar 9" descr=""/>
          <p:cNvPicPr/>
          <p:nvPr/>
        </p:nvPicPr>
        <p:blipFill>
          <a:blip r:embed="rId1"/>
          <a:stretch/>
        </p:blipFill>
        <p:spPr>
          <a:xfrm>
            <a:off x="3962520" y="635040"/>
            <a:ext cx="13105440" cy="9200160"/>
          </a:xfrm>
          <a:prstGeom prst="rect">
            <a:avLst/>
          </a:prstGeom>
          <a:ln w="0">
            <a:noFill/>
          </a:ln>
        </p:spPr>
      </p:pic>
      <p:sp>
        <p:nvSpPr>
          <p:cNvPr id="271" name="Kotak Teks 10"/>
          <p:cNvSpPr/>
          <p:nvPr/>
        </p:nvSpPr>
        <p:spPr>
          <a:xfrm>
            <a:off x="685800" y="578520"/>
            <a:ext cx="4723200" cy="638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dk1"/>
                </a:solidFill>
                <a:latin typeface="Calibri"/>
              </a:rPr>
              <a:t>Diagram Alir Penelitian</a:t>
            </a:r>
            <a:endParaRPr b="0" lang="id-ID"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2" name="Group 3"/>
          <p:cNvGrpSpPr/>
          <p:nvPr/>
        </p:nvGrpSpPr>
        <p:grpSpPr>
          <a:xfrm>
            <a:off x="-772920" y="10054440"/>
            <a:ext cx="19684800" cy="663840"/>
            <a:chOff x="-772920" y="10054440"/>
            <a:chExt cx="19684800" cy="663840"/>
          </a:xfrm>
        </p:grpSpPr>
        <p:sp>
          <p:nvSpPr>
            <p:cNvPr id="273" name="Freeform 4"/>
            <p:cNvSpPr/>
            <p:nvPr/>
          </p:nvSpPr>
          <p:spPr>
            <a:xfrm>
              <a:off x="-772920" y="10197000"/>
              <a:ext cx="19684800" cy="520920"/>
            </a:xfrm>
            <a:custGeom>
              <a:avLst/>
              <a:gdLst>
                <a:gd name="textAreaLeft" fmla="*/ 0 w 19684800"/>
                <a:gd name="textAreaRight" fmla="*/ 19685880 w 19684800"/>
                <a:gd name="textAreaTop" fmla="*/ 0 h 520920"/>
                <a:gd name="textAreaBottom" fmla="*/ 521640 h 520920"/>
              </a:gdLst>
              <a:ahLst/>
              <a:rect l="textAreaLeft" t="textAreaTop" r="textAreaRight" b="textAreaBottom"/>
              <a:pathLst>
                <a:path w="5184742" h="209061">
                  <a:moveTo>
                    <a:pt x="0" y="0"/>
                  </a:moveTo>
                  <a:lnTo>
                    <a:pt x="5184742" y="0"/>
                  </a:lnTo>
                  <a:lnTo>
                    <a:pt x="5184742" y="209061"/>
                  </a:lnTo>
                  <a:lnTo>
                    <a:pt x="0" y="209061"/>
                  </a:lnTo>
                  <a:close/>
                </a:path>
              </a:pathLst>
            </a:custGeom>
            <a:solidFill>
              <a:srgbClr val="9e8e7e"/>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ffffff"/>
                </a:solidFill>
                <a:latin typeface="Arial"/>
              </a:endParaRPr>
            </a:p>
          </p:txBody>
        </p:sp>
        <p:sp>
          <p:nvSpPr>
            <p:cNvPr id="274" name="TextBox 5"/>
            <p:cNvSpPr/>
            <p:nvPr/>
          </p:nvSpPr>
          <p:spPr>
            <a:xfrm>
              <a:off x="-772920" y="10054440"/>
              <a:ext cx="19684800" cy="6638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grpSp>
        <p:nvGrpSpPr>
          <p:cNvPr id="275" name="Group 6"/>
          <p:cNvGrpSpPr/>
          <p:nvPr/>
        </p:nvGrpSpPr>
        <p:grpSpPr>
          <a:xfrm>
            <a:off x="-698760" y="-870480"/>
            <a:ext cx="19684800" cy="1050120"/>
            <a:chOff x="-698760" y="-870480"/>
            <a:chExt cx="19684800" cy="1050120"/>
          </a:xfrm>
        </p:grpSpPr>
        <p:sp>
          <p:nvSpPr>
            <p:cNvPr id="276" name="Freeform 7"/>
            <p:cNvSpPr/>
            <p:nvPr/>
          </p:nvSpPr>
          <p:spPr>
            <a:xfrm>
              <a:off x="-698760" y="-685800"/>
              <a:ext cx="19684800" cy="865080"/>
            </a:xfrm>
            <a:custGeom>
              <a:avLst/>
              <a:gdLst>
                <a:gd name="textAreaLeft" fmla="*/ 0 w 19684800"/>
                <a:gd name="textAreaRight" fmla="*/ 19685880 w 19684800"/>
                <a:gd name="textAreaTop" fmla="*/ 0 h 865080"/>
                <a:gd name="textAreaBottom" fmla="*/ 865800 h 865080"/>
              </a:gdLst>
              <a:ahLst/>
              <a:rect l="textAreaLeft" t="textAreaTop" r="textAreaRight" b="textAreaBottom"/>
              <a:pathLst>
                <a:path w="5184742" h="267409">
                  <a:moveTo>
                    <a:pt x="0" y="0"/>
                  </a:moveTo>
                  <a:lnTo>
                    <a:pt x="5184742" y="0"/>
                  </a:lnTo>
                  <a:lnTo>
                    <a:pt x="5184742" y="267409"/>
                  </a:lnTo>
                  <a:lnTo>
                    <a:pt x="0" y="267409"/>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77" name="TextBox 8"/>
            <p:cNvSpPr/>
            <p:nvPr/>
          </p:nvSpPr>
          <p:spPr>
            <a:xfrm>
              <a:off x="-698760" y="-870480"/>
              <a:ext cx="19684800" cy="10501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78" name="Freeform 12"/>
          <p:cNvSpPr/>
          <p:nvPr/>
        </p:nvSpPr>
        <p:spPr>
          <a:xfrm>
            <a:off x="1828800" y="361800"/>
            <a:ext cx="14709960" cy="9692280"/>
          </a:xfrm>
          <a:custGeom>
            <a:avLst/>
            <a:gdLst>
              <a:gd name="textAreaLeft" fmla="*/ 0 w 14709960"/>
              <a:gd name="textAreaRight" fmla="*/ 14711040 w 14709960"/>
              <a:gd name="textAreaTop" fmla="*/ 0 h 9692280"/>
              <a:gd name="textAreaBottom" fmla="*/ 9693360 h 9692280"/>
            </a:gdLst>
            <a:ahLst/>
            <a:rect l="textAreaLeft" t="textAreaTop" r="textAreaRight" b="textAreaBottom"/>
            <a:pathLst>
              <a:path w="14520704" h="9563615">
                <a:moveTo>
                  <a:pt x="0" y="0"/>
                </a:moveTo>
                <a:lnTo>
                  <a:pt x="14520704" y="0"/>
                </a:lnTo>
                <a:lnTo>
                  <a:pt x="14520704" y="9563614"/>
                </a:lnTo>
                <a:lnTo>
                  <a:pt x="0" y="956361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79" name="TextBox 15"/>
          <p:cNvSpPr/>
          <p:nvPr/>
        </p:nvSpPr>
        <p:spPr>
          <a:xfrm>
            <a:off x="13168080" y="4356360"/>
            <a:ext cx="3845880" cy="317160"/>
          </a:xfrm>
          <a:prstGeom prst="rect">
            <a:avLst/>
          </a:prstGeom>
          <a:noFill/>
          <a:ln w="0">
            <a:noFill/>
          </a:ln>
        </p:spPr>
        <p:style>
          <a:lnRef idx="0"/>
          <a:fillRef idx="0"/>
          <a:effectRef idx="0"/>
          <a:fontRef idx="minor"/>
        </p:style>
        <p:txBody>
          <a:bodyPr lIns="0" rIns="0" tIns="0" bIns="0" anchor="t">
            <a:spAutoFit/>
          </a:bodyPr>
          <a:p>
            <a:pPr algn="ctr" defTabSz="914400">
              <a:lnSpc>
                <a:spcPts val="2500"/>
              </a:lnSpc>
            </a:pPr>
            <a:r>
              <a:rPr b="1" lang="en-US" sz="2500" spc="-1" strike="noStrike">
                <a:solidFill>
                  <a:srgbClr val="ffffff"/>
                </a:solidFill>
                <a:latin typeface="Coco Gothic Bold"/>
                <a:ea typeface="Coco Gothic Bold"/>
              </a:rPr>
              <a:t>METODE SATU</a:t>
            </a:r>
            <a:endParaRPr b="0" lang="id-ID" sz="2500" spc="-1" strike="noStrike">
              <a:solidFill>
                <a:srgbClr val="000000"/>
              </a:solidFill>
              <a:latin typeface="Arial"/>
            </a:endParaRPr>
          </a:p>
        </p:txBody>
      </p:sp>
      <p:grpSp>
        <p:nvGrpSpPr>
          <p:cNvPr id="280" name="Group 16"/>
          <p:cNvGrpSpPr/>
          <p:nvPr/>
        </p:nvGrpSpPr>
        <p:grpSpPr>
          <a:xfrm>
            <a:off x="508320" y="361800"/>
            <a:ext cx="3364200" cy="972720"/>
            <a:chOff x="508320" y="361800"/>
            <a:chExt cx="3364200" cy="972720"/>
          </a:xfrm>
        </p:grpSpPr>
        <p:sp>
          <p:nvSpPr>
            <p:cNvPr id="281" name="Freeform 11"/>
            <p:cNvSpPr/>
            <p:nvPr/>
          </p:nvSpPr>
          <p:spPr>
            <a:xfrm>
              <a:off x="508320" y="361800"/>
              <a:ext cx="951480" cy="972720"/>
            </a:xfrm>
            <a:custGeom>
              <a:avLst/>
              <a:gdLst>
                <a:gd name="textAreaLeft" fmla="*/ 0 w 951480"/>
                <a:gd name="textAreaRight" fmla="*/ 952560 w 951480"/>
                <a:gd name="textAreaTop" fmla="*/ 0 h 972720"/>
                <a:gd name="textAreaBottom" fmla="*/ 973800 h 972720"/>
              </a:gdLst>
              <a:ahLst/>
              <a:rect l="textAreaLeft" t="textAreaTop" r="textAreaRight" b="textAreaBottom"/>
              <a:pathLst>
                <a:path w="1270000" h="1298604">
                  <a:moveTo>
                    <a:pt x="0" y="0"/>
                  </a:moveTo>
                  <a:lnTo>
                    <a:pt x="1270000" y="0"/>
                  </a:lnTo>
                  <a:lnTo>
                    <a:pt x="1270000" y="1298604"/>
                  </a:lnTo>
                  <a:lnTo>
                    <a:pt x="0" y="1298604"/>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82" name="TextBox 40"/>
            <p:cNvSpPr/>
            <p:nvPr/>
          </p:nvSpPr>
          <p:spPr>
            <a:xfrm>
              <a:off x="1766520" y="559800"/>
              <a:ext cx="1742040" cy="23328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0" lang="en-US" sz="1840" spc="-1" strike="noStrike">
                  <a:solidFill>
                    <a:srgbClr val="343434"/>
                  </a:solidFill>
                  <a:latin typeface="Coco Gothic"/>
                  <a:ea typeface="Coco Gothic"/>
                </a:rPr>
                <a:t>UNIVERSITAS </a:t>
              </a:r>
              <a:endParaRPr b="0" lang="id-ID" sz="1840" spc="-1" strike="noStrike">
                <a:solidFill>
                  <a:srgbClr val="000000"/>
                </a:solidFill>
                <a:latin typeface="Arial"/>
              </a:endParaRPr>
            </a:p>
          </p:txBody>
        </p:sp>
        <p:sp>
          <p:nvSpPr>
            <p:cNvPr id="283" name="TextBox 41"/>
            <p:cNvSpPr/>
            <p:nvPr/>
          </p:nvSpPr>
          <p:spPr>
            <a:xfrm>
              <a:off x="1402200" y="855720"/>
              <a:ext cx="2470320" cy="466920"/>
            </a:xfrm>
            <a:prstGeom prst="rect">
              <a:avLst/>
            </a:prstGeom>
            <a:noFill/>
            <a:ln w="0">
              <a:noFill/>
            </a:ln>
          </p:spPr>
          <p:style>
            <a:lnRef idx="0"/>
            <a:fillRef idx="0"/>
            <a:effectRef idx="0"/>
            <a:fontRef idx="minor"/>
          </p:style>
          <p:txBody>
            <a:bodyPr lIns="0" rIns="0" tIns="0" bIns="0" anchor="t">
              <a:spAutoFit/>
            </a:bodyPr>
            <a:p>
              <a:pPr algn="ctr" defTabSz="914400">
                <a:lnSpc>
                  <a:spcPts val="1840"/>
                </a:lnSpc>
              </a:pPr>
              <a:r>
                <a:rPr b="1" lang="en-US" sz="1840" spc="214" strike="noStrike">
                  <a:solidFill>
                    <a:srgbClr val="343434"/>
                  </a:solidFill>
                  <a:latin typeface="Coco Gothic Bold"/>
                  <a:ea typeface="Coco Gothic Bold"/>
                </a:rPr>
                <a:t>PANCASAKTI TEGAL</a:t>
              </a:r>
              <a:endParaRPr b="0" lang="id-ID" sz="184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9e8e7e"/>
        </a:solidFill>
      </p:bgPr>
    </p:bg>
    <p:spTree>
      <p:nvGrpSpPr>
        <p:cNvPr id="1" name=""/>
        <p:cNvGrpSpPr/>
        <p:nvPr/>
      </p:nvGrpSpPr>
      <p:grpSpPr>
        <a:xfrm>
          <a:off x="0" y="0"/>
          <a:ext cx="0" cy="0"/>
          <a:chOff x="0" y="0"/>
          <a:chExt cx="0" cy="0"/>
        </a:xfrm>
      </p:grpSpPr>
      <p:sp>
        <p:nvSpPr>
          <p:cNvPr id="284" name="Freeform 2"/>
          <p:cNvSpPr/>
          <p:nvPr/>
        </p:nvSpPr>
        <p:spPr>
          <a:xfrm>
            <a:off x="13860000" y="8604360"/>
            <a:ext cx="5795280" cy="5795280"/>
          </a:xfrm>
          <a:custGeom>
            <a:avLst/>
            <a:gdLst>
              <a:gd name="textAreaLeft" fmla="*/ 0 w 5795280"/>
              <a:gd name="textAreaRight" fmla="*/ 5796360 w 5795280"/>
              <a:gd name="textAreaTop" fmla="*/ 0 h 5795280"/>
              <a:gd name="textAreaBottom" fmla="*/ 5796360 h 5795280"/>
            </a:gdLst>
            <a:ahLst/>
            <a:rect l="textAreaLeft" t="textAreaTop" r="textAreaRight" b="textAreaBottom"/>
            <a:pathLst>
              <a:path w="5796383" h="5796383">
                <a:moveTo>
                  <a:pt x="0" y="0"/>
                </a:moveTo>
                <a:lnTo>
                  <a:pt x="5796382" y="0"/>
                </a:lnTo>
                <a:lnTo>
                  <a:pt x="5796382" y="5796382"/>
                </a:lnTo>
                <a:lnTo>
                  <a:pt x="0" y="5796382"/>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85" name="Freeform 3"/>
          <p:cNvSpPr/>
          <p:nvPr/>
        </p:nvSpPr>
        <p:spPr>
          <a:xfrm>
            <a:off x="-947520" y="-3780000"/>
            <a:ext cx="4727160" cy="4727160"/>
          </a:xfrm>
          <a:custGeom>
            <a:avLst/>
            <a:gdLst>
              <a:gd name="textAreaLeft" fmla="*/ 0 w 4727160"/>
              <a:gd name="textAreaRight" fmla="*/ 4728240 w 4727160"/>
              <a:gd name="textAreaTop" fmla="*/ 0 h 4727160"/>
              <a:gd name="textAreaBottom" fmla="*/ 4728240 h 4727160"/>
            </a:gdLst>
            <a:ahLst/>
            <a:rect l="textAreaLeft" t="textAreaTop" r="textAreaRight" b="textAreaBottom"/>
            <a:pathLst>
              <a:path w="4728366" h="4728366">
                <a:moveTo>
                  <a:pt x="0" y="0"/>
                </a:moveTo>
                <a:lnTo>
                  <a:pt x="4728366" y="0"/>
                </a:lnTo>
                <a:lnTo>
                  <a:pt x="4728366" y="4728365"/>
                </a:lnTo>
                <a:lnTo>
                  <a:pt x="0" y="4728365"/>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grpSp>
        <p:nvGrpSpPr>
          <p:cNvPr id="286" name="Group 4"/>
          <p:cNvGrpSpPr/>
          <p:nvPr/>
        </p:nvGrpSpPr>
        <p:grpSpPr>
          <a:xfrm>
            <a:off x="-260280" y="3532680"/>
            <a:ext cx="1287720" cy="6551640"/>
            <a:chOff x="-260280" y="3532680"/>
            <a:chExt cx="1287720" cy="6551640"/>
          </a:xfrm>
        </p:grpSpPr>
        <p:sp>
          <p:nvSpPr>
            <p:cNvPr id="287" name="Freeform 5"/>
            <p:cNvSpPr/>
            <p:nvPr/>
          </p:nvSpPr>
          <p:spPr>
            <a:xfrm>
              <a:off x="-260280" y="4390920"/>
              <a:ext cx="1287720" cy="5693400"/>
            </a:xfrm>
            <a:custGeom>
              <a:avLst/>
              <a:gdLst>
                <a:gd name="textAreaLeft" fmla="*/ 0 w 1287720"/>
                <a:gd name="textAreaRight" fmla="*/ 1288800 w 1287720"/>
                <a:gd name="textAreaTop" fmla="*/ 0 h 5693400"/>
                <a:gd name="textAreaBottom" fmla="*/ 5694480 h 5693400"/>
              </a:gdLst>
              <a:ahLst/>
              <a:rect l="textAreaLeft" t="textAreaTop" r="textAreaRight" b="textAreaBottom"/>
              <a:pathLst>
                <a:path w="85832" h="379187">
                  <a:moveTo>
                    <a:pt x="0" y="0"/>
                  </a:moveTo>
                  <a:lnTo>
                    <a:pt x="85832" y="0"/>
                  </a:lnTo>
                  <a:lnTo>
                    <a:pt x="85832" y="379187"/>
                  </a:lnTo>
                  <a:lnTo>
                    <a:pt x="0" y="379187"/>
                  </a:lnTo>
                  <a:close/>
                </a:path>
              </a:pathLst>
            </a:custGeom>
            <a:solidFill>
              <a:srgbClr val="dcd0c0"/>
            </a:solid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88" name="TextBox 6"/>
            <p:cNvSpPr/>
            <p:nvPr/>
          </p:nvSpPr>
          <p:spPr>
            <a:xfrm>
              <a:off x="-260280" y="3532680"/>
              <a:ext cx="1287720" cy="65516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659"/>
                </a:lnSpc>
              </a:pPr>
              <a:endParaRPr b="0" lang="en-US" sz="1800" spc="-1" strike="noStrike">
                <a:solidFill>
                  <a:schemeClr val="dk1"/>
                </a:solidFill>
                <a:latin typeface="Calibri"/>
              </a:endParaRPr>
            </a:p>
          </p:txBody>
        </p:sp>
      </p:grpSp>
      <p:sp>
        <p:nvSpPr>
          <p:cNvPr id="289" name="Freeform 7"/>
          <p:cNvSpPr/>
          <p:nvPr/>
        </p:nvSpPr>
        <p:spPr>
          <a:xfrm flipV="1">
            <a:off x="15513120" y="327240"/>
            <a:ext cx="2470320" cy="2335320"/>
          </a:xfrm>
          <a:custGeom>
            <a:avLst/>
            <a:gdLst>
              <a:gd name="textAreaLeft" fmla="*/ 0 w 2470320"/>
              <a:gd name="textAreaRight" fmla="*/ 2471400 w 2470320"/>
              <a:gd name="textAreaTop" fmla="*/ -720 h 2335320"/>
              <a:gd name="textAreaBottom" fmla="*/ 2335680 h 2335320"/>
            </a:gdLst>
            <a:ahLst/>
            <a:rect l="textAreaLeft" t="textAreaTop" r="textAreaRight" b="textAreaBottom"/>
            <a:pathLst>
              <a:path w="2471376" h="2336573">
                <a:moveTo>
                  <a:pt x="0" y="2336573"/>
                </a:moveTo>
                <a:lnTo>
                  <a:pt x="2471375" y="2336573"/>
                </a:lnTo>
                <a:lnTo>
                  <a:pt x="2471375" y="0"/>
                </a:lnTo>
                <a:lnTo>
                  <a:pt x="0" y="0"/>
                </a:lnTo>
                <a:lnTo>
                  <a:pt x="0" y="2336573"/>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90" name="Freeform 9"/>
          <p:cNvSpPr/>
          <p:nvPr/>
        </p:nvSpPr>
        <p:spPr>
          <a:xfrm>
            <a:off x="384120" y="8041680"/>
            <a:ext cx="1773360" cy="1773360"/>
          </a:xfrm>
          <a:custGeom>
            <a:avLst/>
            <a:gdLst>
              <a:gd name="textAreaLeft" fmla="*/ 0 w 1773360"/>
              <a:gd name="textAreaRight" fmla="*/ 1774440 w 1773360"/>
              <a:gd name="textAreaTop" fmla="*/ 0 h 1773360"/>
              <a:gd name="textAreaBottom" fmla="*/ 1774440 h 1773360"/>
            </a:gdLst>
            <a:ahLst/>
            <a:rect l="textAreaLeft" t="textAreaTop" r="textAreaRight" b="textAreaBottom"/>
            <a:pathLst>
              <a:path w="1774524" h="1774524">
                <a:moveTo>
                  <a:pt x="0" y="0"/>
                </a:moveTo>
                <a:lnTo>
                  <a:pt x="1774524" y="0"/>
                </a:lnTo>
                <a:lnTo>
                  <a:pt x="1774524" y="1774524"/>
                </a:lnTo>
                <a:lnTo>
                  <a:pt x="0" y="1774524"/>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id-ID" sz="1800" spc="-1" strike="noStrike">
              <a:solidFill>
                <a:srgbClr val="000000"/>
              </a:solidFill>
              <a:latin typeface="Arial"/>
            </a:endParaRPr>
          </a:p>
        </p:txBody>
      </p:sp>
      <p:sp>
        <p:nvSpPr>
          <p:cNvPr id="291" name="TextBox 12"/>
          <p:cNvSpPr/>
          <p:nvPr/>
        </p:nvSpPr>
        <p:spPr>
          <a:xfrm>
            <a:off x="4591800" y="4410000"/>
            <a:ext cx="9103320" cy="1403640"/>
          </a:xfrm>
          <a:prstGeom prst="rect">
            <a:avLst/>
          </a:prstGeom>
          <a:noFill/>
          <a:ln w="0">
            <a:noFill/>
          </a:ln>
        </p:spPr>
        <p:style>
          <a:lnRef idx="0"/>
          <a:fillRef idx="0"/>
          <a:effectRef idx="0"/>
          <a:fontRef idx="minor"/>
        </p:style>
        <p:txBody>
          <a:bodyPr lIns="0" rIns="0" tIns="0" bIns="0" anchor="t">
            <a:spAutoFit/>
          </a:bodyPr>
          <a:p>
            <a:pPr algn="ctr" defTabSz="914400">
              <a:lnSpc>
                <a:spcPts val="11055"/>
              </a:lnSpc>
            </a:pPr>
            <a:r>
              <a:rPr b="1" lang="en-US" sz="9960" spc="-1" strike="noStrike">
                <a:solidFill>
                  <a:srgbClr val="ffffff"/>
                </a:solidFill>
                <a:latin typeface="Coco Gothic Heavy"/>
                <a:ea typeface="Coco Gothic Heavy"/>
              </a:rPr>
              <a:t>Terima Kasih</a:t>
            </a:r>
            <a:endParaRPr b="0" lang="id-ID" sz="99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189</TotalTime>
  <Application>LibreOffice/24.2.7.2$Linux_X86_64 LibreOffice_project/420$Build-2</Application>
  <AppVersion>15.0000</AppVersion>
  <Words>5014</Words>
  <Paragraphs>246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2026-08-17T12:48:51Z</dcterms:created>
  <dc:creator/>
  <dc:description/>
  <dc:language>id-ID</dc:language>
  <cp:lastModifiedBy/>
  <dcterms:modified xsi:type="dcterms:W3CDTF">2026-08-17T23:51:53Z</dcterms:modified>
  <cp:revision>25</cp:revision>
  <dc:subject/>
  <dc:title>PPT SEMPRO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y fmtid="{D5CDD505-2E9C-101B-9397-08002B2CF9AE}" pid="4" name="PresentationFormat">
    <vt:lpwstr>Kustom</vt:lpwstr>
  </property>
  <property fmtid="{D5CDD505-2E9C-101B-9397-08002B2CF9AE}" pid="5" name="Slides">
    <vt:i4>12</vt:i4>
  </property>
</Properties>
</file>